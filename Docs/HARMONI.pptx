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xlsx" ContentType="application/vnd.openxmlformats-officedocument.spreadsheetml.sheet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-558" y="-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en-US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Avg. task completion time (relative units)</c:v>
                </c:pt>
              </c:strCache>
            </c:strRef>
          </c:tx>
          <c:spPr>
            <a:solidFill>
              <a:srgbClr val="D85A30"/>
            </a:solidFill>
            <a:effectLst/>
          </c:spPr>
          <c:dPt>
            <c:idx val="1"/>
            <c:spPr>
              <a:solidFill>
                <a:srgbClr val="1D9E75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200" b="0" i="0" u="none" strike="noStrike">
                    <a:solidFill>
                      <a:srgbClr val="1F2937"/>
                    </a:solidFill>
                    <a:latin typeface="Arial"/>
                  </a:defRPr>
                </a:pPr>
                <a:endParaRPr lang="en-US"/>
              </a:p>
            </c:txPr>
            <c:showVal val="1"/>
          </c:dLbls>
          <c:cat>
            <c:strRef>
              <c:f>Sheet1!$A$2:$A$3</c:f>
              <c:strCache>
                <c:ptCount val="2"/>
                <c:pt idx="0">
                  <c:v>Stop-and-wait
coordination</c:v>
                </c:pt>
                <c:pt idx="1">
                  <c:v>HARMONI
(P2P coordinated)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78</c:v>
                </c:pt>
              </c:numCache>
            </c:numRef>
          </c:val>
        </c:ser>
        <c:dLbls>
          <c:showVal val="1"/>
        </c:dLbls>
        <c:axId val="162792192"/>
        <c:axId val="162793728"/>
      </c:barChart>
      <c:catAx>
        <c:axId val="162792192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162793728"/>
        <c:crosses val="autoZero"/>
        <c:auto val="1"/>
        <c:lblAlgn val="ctr"/>
        <c:lblOffset val="100"/>
        <c:noMultiLvlLbl val="1"/>
      </c:catAx>
      <c:valAx>
        <c:axId val="162793728"/>
        <c:scaling>
          <c:orientation val="minMax"/>
        </c:scaling>
        <c:axPos val="l"/>
        <c:majorGridlines>
          <c:spPr>
            <a:ln w="9525" cap="flat">
              <a:solidFill>
                <a:srgbClr val="E2E5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6B7280"/>
                    </a:solidFill>
                    <a:latin typeface="Arial"/>
                  </a:rPr>
                  <a:t>Relative completion time</a:t>
                </a:r>
              </a:p>
            </c:rich>
          </c:tx>
          <c:layout/>
        </c:title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1627921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://github.com/ros-navigation/navigation2/" TargetMode="External"/><Relationship Id="rId13" Type="http://schemas.openxmlformats.org/officeDocument/2006/relationships/hyperlink" Target="https://onnxruntime.ai/docs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ocs.nav2.org/rolling/" TargetMode="External"/><Relationship Id="rId12" Type="http://schemas.openxmlformats.org/officeDocument/2006/relationships/hyperlink" Target="https://github.com/AtsushiSakai/PythonRobotic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ros2/" TargetMode="External"/><Relationship Id="rId11" Type="http://schemas.openxmlformats.org/officeDocument/2006/relationships/hyperlink" Target="https://networkx.org/documentation/stable/reference/index.html" TargetMode="External"/><Relationship Id="rId5" Type="http://schemas.openxmlformats.org/officeDocument/2006/relationships/hyperlink" Target="https://docs.ros.org/en/jazzy/" TargetMode="External"/><Relationship Id="rId10" Type="http://schemas.openxmlformats.org/officeDocument/2006/relationships/hyperlink" Target="https://github.com/eclipse-zenoh/zenoh/" TargetMode="External"/><Relationship Id="rId4" Type="http://schemas.openxmlformats.org/officeDocument/2006/relationships/hyperlink" Target="https://gazebosim.org/docs/latest/getstarted/" TargetMode="External"/><Relationship Id="rId9" Type="http://schemas.openxmlformats.org/officeDocument/2006/relationships/hyperlink" Target="https://zenoh.io/" TargetMode="External"/><Relationship Id="rId14" Type="http://schemas.openxmlformats.org/officeDocument/2006/relationships/hyperlink" Target="https://github.com/microsoft/onnxrunti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xmlns="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xmlns="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30000"/>
          </a:blip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715881"/>
            <a:ext cx="1169865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– SIH26123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Title - 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Theme - Smart Automation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Category - Software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ID -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) – Hacker’s Home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2988" y="2915728"/>
            <a:ext cx="7526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Edge-AI Based Distributed Fleet Coordination for Autonomous Mobile Robots (AMRs) in Smart Warehouses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29773" y="-47625"/>
            <a:ext cx="11700163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HARMONI</a:t>
            </a:r>
            <a:br>
              <a:rPr lang="en-US" sz="32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6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Hierarchical Adaptive Resilient Multi-robot Orchestration Network Infrastructure</a:t>
            </a:r>
            <a:endParaRPr lang="en-US" sz="1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xmlns="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36963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Hacker’s Home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137160" y="1141948"/>
            <a:ext cx="6592752" cy="395152"/>
            <a:chOff x="137160" y="1226624"/>
            <a:chExt cx="6592752" cy="395152"/>
          </a:xfrm>
        </p:grpSpPr>
        <p:grpSp>
          <p:nvGrpSpPr>
            <p:cNvPr id="14" name="Group 13"/>
            <p:cNvGrpSpPr/>
            <p:nvPr/>
          </p:nvGrpSpPr>
          <p:grpSpPr>
            <a:xfrm>
              <a:off x="137160" y="1226624"/>
              <a:ext cx="395152" cy="395152"/>
              <a:chOff x="457200" y="320040"/>
              <a:chExt cx="640080" cy="640080"/>
            </a:xfrm>
          </p:grpSpPr>
          <p:sp>
            <p:nvSpPr>
              <p:cNvPr id="15" name="Shape 0"/>
              <p:cNvSpPr/>
              <p:nvPr/>
            </p:nvSpPr>
            <p:spPr>
              <a:xfrm>
                <a:off x="457200" y="320040"/>
                <a:ext cx="640080" cy="640080"/>
              </a:xfrm>
              <a:prstGeom prst="ellipse">
                <a:avLst/>
              </a:prstGeom>
              <a:solidFill>
                <a:srgbClr val="1D9E75"/>
              </a:solidFill>
              <a:ln/>
            </p:spPr>
          </p:sp>
          <p:pic>
            <p:nvPicPr>
              <p:cNvPr id="16" name="Image 0" descr="/home/claude/harmoni_ppt/icons/lightbulb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4360" y="457200"/>
                <a:ext cx="365760" cy="365760"/>
              </a:xfrm>
              <a:prstGeom prst="rect">
                <a:avLst/>
              </a:prstGeom>
            </p:spPr>
          </p:pic>
        </p:grpSp>
        <p:sp>
          <p:nvSpPr>
            <p:cNvPr id="20" name="TextBox 19"/>
            <p:cNvSpPr txBox="1"/>
            <p:nvPr/>
          </p:nvSpPr>
          <p:spPr>
            <a:xfrm>
              <a:off x="532312" y="1226624"/>
              <a:ext cx="619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 smtClean="0">
                  <a:solidFill>
                    <a:srgbClr val="12213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Proposed Solution</a:t>
              </a:r>
              <a:endParaRPr lang="en-US" dirty="0" smtClean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137160" y="1573676"/>
            <a:ext cx="11892776" cy="566928"/>
            <a:chOff x="457200" y="1051560"/>
            <a:chExt cx="11274552" cy="566928"/>
          </a:xfrm>
        </p:grpSpPr>
        <p:sp>
          <p:nvSpPr>
            <p:cNvPr id="24" name="Shape 3"/>
            <p:cNvSpPr/>
            <p:nvPr/>
          </p:nvSpPr>
          <p:spPr>
            <a:xfrm>
              <a:off x="457200" y="1051560"/>
              <a:ext cx="11274552" cy="566928"/>
            </a:xfrm>
            <a:prstGeom prst="roundRect">
              <a:avLst>
                <a:gd name="adj" fmla="val 9677"/>
              </a:avLst>
            </a:prstGeom>
            <a:solidFill>
              <a:schemeClr val="tx1"/>
            </a:solidFill>
            <a:ln/>
          </p:spPr>
        </p:sp>
        <p:sp>
          <p:nvSpPr>
            <p:cNvPr id="25" name="Text 4"/>
            <p:cNvSpPr txBox="1"/>
            <p:nvPr/>
          </p:nvSpPr>
          <p:spPr>
            <a:xfrm>
              <a:off x="640080" y="1088136"/>
              <a:ext cx="10881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kern="0" spc="50" dirty="0">
                  <a:solidFill>
                    <a:srgbClr val="E2B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CORE </a:t>
              </a:r>
              <a:r>
                <a:rPr lang="en-US" sz="1250" b="1" kern="0" spc="50" dirty="0" smtClean="0">
                  <a:solidFill>
                    <a:srgbClr val="E2B93B"/>
                  </a:solidFill>
                  <a:ea typeface="Calibri" pitchFamily="34" charset="-122"/>
                  <a:cs typeface="Calibri" pitchFamily="34" charset="-120"/>
                </a:rPr>
                <a:t>UNIQUENESS</a:t>
              </a:r>
              <a:r>
                <a:rPr lang="en-US" sz="1250" b="1" kern="0" spc="50" dirty="0" smtClean="0">
                  <a:solidFill>
                    <a:srgbClr val="E2B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250" b="1" kern="0" spc="50" dirty="0">
                  <a:solidFill>
                    <a:srgbClr val="E2B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— DECENTRALIZED, EDGE-FIRST COORDINATION</a:t>
              </a:r>
              <a:endParaRPr lang="en-US" sz="1250" dirty="0"/>
            </a:p>
          </p:txBody>
        </p:sp>
        <p:sp>
          <p:nvSpPr>
            <p:cNvPr id="26" name="Text 5"/>
            <p:cNvSpPr txBox="1"/>
            <p:nvPr/>
          </p:nvSpPr>
          <p:spPr>
            <a:xfrm>
              <a:off x="640080" y="1335024"/>
              <a:ext cx="10881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E8ECF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AMR carries the full coordination + autonomy stack — no central server sits in the control or safety loop, at any operating tier.</a:t>
              </a:r>
              <a:endParaRPr lang="en-US" sz="1100" dirty="0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21835" y="2367638"/>
            <a:ext cx="5486400" cy="3282696"/>
            <a:chOff x="457200" y="1783080"/>
            <a:chExt cx="5486400" cy="3300984"/>
          </a:xfrm>
        </p:grpSpPr>
        <p:sp>
          <p:nvSpPr>
            <p:cNvPr id="28" name="Text 6"/>
            <p:cNvSpPr txBox="1"/>
            <p:nvPr/>
          </p:nvSpPr>
          <p:spPr>
            <a:xfrm>
              <a:off x="457200" y="1783080"/>
              <a:ext cx="5486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CORE COORDINATION MECHANISMS</a:t>
              </a:r>
              <a:endParaRPr lang="en-US" sz="1100" dirty="0"/>
            </a:p>
          </p:txBody>
        </p:sp>
        <p:grpSp>
          <p:nvGrpSpPr>
            <p:cNvPr id="29" name="Group 49"/>
            <p:cNvGrpSpPr/>
            <p:nvPr/>
          </p:nvGrpSpPr>
          <p:grpSpPr>
            <a:xfrm>
              <a:off x="457200" y="2084832"/>
              <a:ext cx="5486400" cy="914400"/>
              <a:chOff x="457200" y="2084832"/>
              <a:chExt cx="5486400" cy="914400"/>
            </a:xfrm>
          </p:grpSpPr>
          <p:sp>
            <p:nvSpPr>
              <p:cNvPr id="43" name="Shape 7"/>
              <p:cNvSpPr/>
              <p:nvPr/>
            </p:nvSpPr>
            <p:spPr>
              <a:xfrm>
                <a:off x="457200" y="2084832"/>
                <a:ext cx="5486400" cy="914400"/>
              </a:xfrm>
              <a:prstGeom prst="roundRect">
                <a:avLst>
                  <a:gd name="adj" fmla="val 7000"/>
                </a:avLst>
              </a:prstGeom>
              <a:solidFill>
                <a:srgbClr val="FFFFFF"/>
              </a:solidFill>
              <a:ln w="9525">
                <a:solidFill>
                  <a:srgbClr val="E2E5EA"/>
                </a:solidFill>
                <a:prstDash val="solid"/>
              </a:ln>
            </p:spPr>
          </p:sp>
          <p:sp>
            <p:nvSpPr>
              <p:cNvPr id="44" name="Shape 8"/>
              <p:cNvSpPr/>
              <p:nvPr/>
            </p:nvSpPr>
            <p:spPr>
              <a:xfrm>
                <a:off x="621792" y="2249424"/>
                <a:ext cx="457200" cy="457200"/>
              </a:xfrm>
              <a:prstGeom prst="ellipse">
                <a:avLst/>
              </a:prstGeom>
              <a:solidFill>
                <a:srgbClr val="1D9E75"/>
              </a:solidFill>
              <a:ln/>
            </p:spPr>
          </p:sp>
          <p:pic>
            <p:nvPicPr>
              <p:cNvPr id="45" name="Image 1" descr="/home/claude/harmoni_ppt/icons/rout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" y="2368296"/>
                <a:ext cx="219456" cy="219456"/>
              </a:xfrm>
              <a:prstGeom prst="rect">
                <a:avLst/>
              </a:prstGeom>
            </p:spPr>
          </p:pic>
          <p:sp>
            <p:nvSpPr>
              <p:cNvPr id="46" name="Text 9"/>
              <p:cNvSpPr txBox="1"/>
              <p:nvPr/>
            </p:nvSpPr>
            <p:spPr>
              <a:xfrm>
                <a:off x="1261872" y="2176272"/>
                <a:ext cx="452628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Space-time </a:t>
                </a:r>
                <a:r>
                  <a:rPr lang="en-US" sz="1250" b="1" dirty="0" smtClean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reservations</a:t>
                </a:r>
                <a:endParaRPr lang="en-US" sz="1250" dirty="0"/>
              </a:p>
            </p:txBody>
          </p:sp>
          <p:sp>
            <p:nvSpPr>
              <p:cNvPr id="47" name="Text 10"/>
              <p:cNvSpPr txBox="1"/>
              <p:nvPr/>
            </p:nvSpPr>
            <p:spPr>
              <a:xfrm>
                <a:off x="1261872" y="2450592"/>
                <a:ext cx="4526280" cy="4754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00" dirty="0" smtClean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Robots claim shared cells/aisles for specific time windows; conflicts break by a deterministic priority order.</a:t>
                </a:r>
                <a:endParaRPr lang="en-US" sz="1000" dirty="0"/>
              </a:p>
            </p:txBody>
          </p:sp>
        </p:grpSp>
        <p:grpSp>
          <p:nvGrpSpPr>
            <p:cNvPr id="30" name="Group 51"/>
            <p:cNvGrpSpPr/>
            <p:nvPr/>
          </p:nvGrpSpPr>
          <p:grpSpPr>
            <a:xfrm>
              <a:off x="457200" y="3127248"/>
              <a:ext cx="5486400" cy="914400"/>
              <a:chOff x="457200" y="3127248"/>
              <a:chExt cx="5486400" cy="914400"/>
            </a:xfrm>
          </p:grpSpPr>
          <p:sp>
            <p:nvSpPr>
              <p:cNvPr id="37" name="Shape 11"/>
              <p:cNvSpPr/>
              <p:nvPr/>
            </p:nvSpPr>
            <p:spPr>
              <a:xfrm>
                <a:off x="457200" y="3127248"/>
                <a:ext cx="5486400" cy="914400"/>
              </a:xfrm>
              <a:prstGeom prst="roundRect">
                <a:avLst>
                  <a:gd name="adj" fmla="val 7000"/>
                </a:avLst>
              </a:prstGeom>
              <a:solidFill>
                <a:srgbClr val="FFFFFF"/>
              </a:solidFill>
              <a:ln w="9525">
                <a:solidFill>
                  <a:srgbClr val="E2E5EA"/>
                </a:solidFill>
                <a:prstDash val="solid"/>
              </a:ln>
            </p:spPr>
          </p:sp>
          <p:grpSp>
            <p:nvGrpSpPr>
              <p:cNvPr id="38" name="Group 50"/>
              <p:cNvGrpSpPr/>
              <p:nvPr/>
            </p:nvGrpSpPr>
            <p:grpSpPr>
              <a:xfrm>
                <a:off x="621792" y="3291840"/>
                <a:ext cx="457200" cy="457200"/>
                <a:chOff x="621792" y="3291840"/>
                <a:chExt cx="457200" cy="457200"/>
              </a:xfrm>
            </p:grpSpPr>
            <p:sp>
              <p:nvSpPr>
                <p:cNvPr id="41" name="Shape 12"/>
                <p:cNvSpPr/>
                <p:nvPr/>
              </p:nvSpPr>
              <p:spPr>
                <a:xfrm>
                  <a:off x="621792" y="3291840"/>
                  <a:ext cx="457200" cy="457200"/>
                </a:xfrm>
                <a:prstGeom prst="ellipse">
                  <a:avLst/>
                </a:prstGeom>
                <a:solidFill>
                  <a:srgbClr val="1D9E75"/>
                </a:solidFill>
                <a:ln/>
              </p:spPr>
            </p:sp>
            <p:pic>
              <p:nvPicPr>
                <p:cNvPr id="42" name="Image 2" descr="/home/claude/harmoni_ppt/icons/ban.png"/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0664" y="3410712"/>
                  <a:ext cx="219456" cy="219456"/>
                </a:xfrm>
                <a:prstGeom prst="rect">
                  <a:avLst/>
                </a:prstGeom>
              </p:spPr>
            </p:pic>
          </p:grpSp>
          <p:sp>
            <p:nvSpPr>
              <p:cNvPr id="39" name="Text 13"/>
              <p:cNvSpPr txBox="1"/>
              <p:nvPr/>
            </p:nvSpPr>
            <p:spPr>
              <a:xfrm>
                <a:off x="1261872" y="3218688"/>
                <a:ext cx="452628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Deadlock detection &amp; resolution</a:t>
                </a:r>
                <a:endParaRPr lang="en-US" sz="1250" dirty="0"/>
              </a:p>
            </p:txBody>
          </p:sp>
          <p:sp>
            <p:nvSpPr>
              <p:cNvPr id="40" name="Text 14"/>
              <p:cNvSpPr txBox="1"/>
              <p:nvPr/>
            </p:nvSpPr>
            <p:spPr>
              <a:xfrm>
                <a:off x="1261872" y="3493008"/>
                <a:ext cx="4526280" cy="4754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wait-for-graph flags cyclic waits across robots; the lowest-priority robot yields to break the cycle.</a:t>
                </a:r>
                <a:endParaRPr lang="en-US" sz="1000" dirty="0"/>
              </a:p>
            </p:txBody>
          </p:sp>
        </p:grpSp>
        <p:grpSp>
          <p:nvGrpSpPr>
            <p:cNvPr id="31" name="Group 52"/>
            <p:cNvGrpSpPr/>
            <p:nvPr/>
          </p:nvGrpSpPr>
          <p:grpSpPr>
            <a:xfrm>
              <a:off x="457200" y="4169664"/>
              <a:ext cx="5486400" cy="914400"/>
              <a:chOff x="457200" y="4169664"/>
              <a:chExt cx="5486400" cy="914400"/>
            </a:xfrm>
          </p:grpSpPr>
          <p:sp>
            <p:nvSpPr>
              <p:cNvPr id="32" name="Shape 15"/>
              <p:cNvSpPr/>
              <p:nvPr/>
            </p:nvSpPr>
            <p:spPr>
              <a:xfrm>
                <a:off x="457200" y="4169664"/>
                <a:ext cx="5486400" cy="914400"/>
              </a:xfrm>
              <a:prstGeom prst="roundRect">
                <a:avLst>
                  <a:gd name="adj" fmla="val 7000"/>
                </a:avLst>
              </a:prstGeom>
              <a:solidFill>
                <a:srgbClr val="FFFFFF"/>
              </a:solidFill>
              <a:ln w="9525">
                <a:solidFill>
                  <a:srgbClr val="E2E5EA"/>
                </a:solidFill>
                <a:prstDash val="solid"/>
              </a:ln>
            </p:spPr>
          </p:sp>
          <p:sp>
            <p:nvSpPr>
              <p:cNvPr id="33" name="Shape 16"/>
              <p:cNvSpPr/>
              <p:nvPr/>
            </p:nvSpPr>
            <p:spPr>
              <a:xfrm>
                <a:off x="621792" y="4334256"/>
                <a:ext cx="457200" cy="457200"/>
              </a:xfrm>
              <a:prstGeom prst="ellipse">
                <a:avLst/>
              </a:prstGeom>
              <a:solidFill>
                <a:srgbClr val="1D9E75"/>
              </a:solidFill>
              <a:ln/>
            </p:spPr>
          </p:sp>
          <p:pic>
            <p:nvPicPr>
              <p:cNvPr id="34" name="Image 3" descr="/home/claude/harmoni_ppt/icons/network.png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0664" y="4453128"/>
                <a:ext cx="219456" cy="219456"/>
              </a:xfrm>
              <a:prstGeom prst="rect">
                <a:avLst/>
              </a:prstGeom>
            </p:spPr>
          </p:pic>
          <p:sp>
            <p:nvSpPr>
              <p:cNvPr id="35" name="Text 17"/>
              <p:cNvSpPr txBox="1"/>
              <p:nvPr/>
            </p:nvSpPr>
            <p:spPr>
              <a:xfrm>
                <a:off x="1261872" y="4261104"/>
                <a:ext cx="452628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Distributed task allocation</a:t>
                </a:r>
                <a:endParaRPr lang="en-US" sz="1250" dirty="0"/>
              </a:p>
            </p:txBody>
          </p:sp>
          <p:sp>
            <p:nvSpPr>
              <p:cNvPr id="36" name="Text 18"/>
              <p:cNvSpPr txBox="1"/>
              <p:nvPr/>
            </p:nvSpPr>
            <p:spPr>
              <a:xfrm>
                <a:off x="1261872" y="4535424"/>
                <a:ext cx="4526280" cy="4754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Robots bid for tasks via a decentralized auction; tasks are leased and reassigned automatically on timeout or failure.</a:t>
                </a:r>
                <a:endParaRPr lang="en-US" sz="1000" dirty="0"/>
              </a:p>
            </p:txBody>
          </p:sp>
        </p:grpSp>
      </p:grpSp>
      <p:grpSp>
        <p:nvGrpSpPr>
          <p:cNvPr id="73" name="Group 72"/>
          <p:cNvGrpSpPr/>
          <p:nvPr/>
        </p:nvGrpSpPr>
        <p:grpSpPr>
          <a:xfrm>
            <a:off x="6263640" y="2367638"/>
            <a:ext cx="5572471" cy="3538728"/>
            <a:chOff x="6263640" y="2321158"/>
            <a:chExt cx="5440680" cy="3466994"/>
          </a:xfrm>
        </p:grpSpPr>
        <p:sp>
          <p:nvSpPr>
            <p:cNvPr id="48" name="Text 19"/>
            <p:cNvSpPr txBox="1"/>
            <p:nvPr/>
          </p:nvSpPr>
          <p:spPr>
            <a:xfrm>
              <a:off x="6263640" y="2321158"/>
              <a:ext cx="5440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RESILIENCE LADDER</a:t>
              </a:r>
              <a:endParaRPr lang="en-US" sz="1100" dirty="0"/>
            </a:p>
          </p:txBody>
        </p:sp>
        <p:grpSp>
          <p:nvGrpSpPr>
            <p:cNvPr id="49" name="Group 48"/>
            <p:cNvGrpSpPr/>
            <p:nvPr/>
          </p:nvGrpSpPr>
          <p:grpSpPr>
            <a:xfrm>
              <a:off x="6263640" y="2624328"/>
              <a:ext cx="5440680" cy="530352"/>
              <a:chOff x="6263640" y="2084832"/>
              <a:chExt cx="5440680" cy="530352"/>
            </a:xfrm>
          </p:grpSpPr>
          <p:sp>
            <p:nvSpPr>
              <p:cNvPr id="50" name="Shape 20"/>
              <p:cNvSpPr/>
              <p:nvPr/>
            </p:nvSpPr>
            <p:spPr>
              <a:xfrm>
                <a:off x="6263640" y="2084832"/>
                <a:ext cx="5440680" cy="530352"/>
              </a:xfrm>
              <a:prstGeom prst="roundRect">
                <a:avLst>
                  <a:gd name="adj" fmla="val 10345"/>
                </a:avLst>
              </a:prstGeom>
              <a:solidFill>
                <a:srgbClr val="1D9E75"/>
              </a:solidFill>
              <a:ln/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 21"/>
              <p:cNvSpPr txBox="1"/>
              <p:nvPr/>
            </p:nvSpPr>
            <p:spPr>
              <a:xfrm>
                <a:off x="6492240" y="2112264"/>
                <a:ext cx="5029200" cy="2468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1 · Infrastructure mode</a:t>
                </a:r>
                <a:endParaRPr lang="en-US" sz="1200" dirty="0"/>
              </a:p>
            </p:txBody>
          </p:sp>
          <p:sp>
            <p:nvSpPr>
              <p:cNvPr id="52" name="Text 22"/>
              <p:cNvSpPr txBox="1"/>
              <p:nvPr/>
            </p:nvSpPr>
            <p:spPr>
              <a:xfrm>
                <a:off x="6492240" y="2359152"/>
                <a:ext cx="502920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EAF3E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Wi-Fi + WMS — full fleet visibility</a:t>
                </a:r>
                <a:endParaRPr lang="en-US" sz="950" dirty="0"/>
              </a:p>
            </p:txBody>
          </p:sp>
        </p:grpSp>
        <p:sp>
          <p:nvSpPr>
            <p:cNvPr id="53" name="Shape 23"/>
            <p:cNvSpPr/>
            <p:nvPr/>
          </p:nvSpPr>
          <p:spPr>
            <a:xfrm>
              <a:off x="8887968" y="3154680"/>
              <a:ext cx="237744" cy="128016"/>
            </a:xfrm>
            <a:prstGeom prst="downArrow">
              <a:avLst/>
            </a:prstGeom>
            <a:solidFill>
              <a:srgbClr val="6B7280"/>
            </a:solidFill>
            <a:ln/>
          </p:spPr>
        </p:sp>
        <p:grpSp>
          <p:nvGrpSpPr>
            <p:cNvPr id="54" name="Group 53"/>
            <p:cNvGrpSpPr/>
            <p:nvPr/>
          </p:nvGrpSpPr>
          <p:grpSpPr>
            <a:xfrm>
              <a:off x="6263640" y="3282696"/>
              <a:ext cx="5440680" cy="530352"/>
              <a:chOff x="6263640" y="2743200"/>
              <a:chExt cx="5440680" cy="530352"/>
            </a:xfrm>
          </p:grpSpPr>
          <p:sp>
            <p:nvSpPr>
              <p:cNvPr id="55" name="Shape 24"/>
              <p:cNvSpPr/>
              <p:nvPr/>
            </p:nvSpPr>
            <p:spPr>
              <a:xfrm>
                <a:off x="6263640" y="2743200"/>
                <a:ext cx="5440680" cy="530352"/>
              </a:xfrm>
              <a:prstGeom prst="roundRect">
                <a:avLst>
                  <a:gd name="adj" fmla="val 10345"/>
                </a:avLst>
              </a:prstGeom>
              <a:solidFill>
                <a:srgbClr val="0F6E56"/>
              </a:solidFill>
              <a:ln/>
            </p:spPr>
          </p:sp>
          <p:sp>
            <p:nvSpPr>
              <p:cNvPr id="56" name="Text 25"/>
              <p:cNvSpPr txBox="1"/>
              <p:nvPr/>
            </p:nvSpPr>
            <p:spPr>
              <a:xfrm>
                <a:off x="6492240" y="2770632"/>
                <a:ext cx="5029200" cy="2468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2 · Local P2P mode</a:t>
                </a:r>
                <a:endParaRPr lang="en-US" sz="1200" dirty="0"/>
              </a:p>
            </p:txBody>
          </p:sp>
          <p:sp>
            <p:nvSpPr>
              <p:cNvPr id="57" name="Text 26"/>
              <p:cNvSpPr txBox="1"/>
              <p:nvPr/>
            </p:nvSpPr>
            <p:spPr>
              <a:xfrm>
                <a:off x="6492240" y="3017520"/>
                <a:ext cx="502920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EAF3E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Zenoh pub/sub over Wi-Fi Direct / local AP</a:t>
                </a:r>
                <a:endParaRPr lang="en-US" sz="950" dirty="0"/>
              </a:p>
            </p:txBody>
          </p:sp>
        </p:grpSp>
        <p:sp>
          <p:nvSpPr>
            <p:cNvPr id="58" name="Shape 27"/>
            <p:cNvSpPr/>
            <p:nvPr/>
          </p:nvSpPr>
          <p:spPr>
            <a:xfrm>
              <a:off x="8887968" y="3813048"/>
              <a:ext cx="237744" cy="128016"/>
            </a:xfrm>
            <a:prstGeom prst="downArrow">
              <a:avLst/>
            </a:prstGeom>
            <a:solidFill>
              <a:srgbClr val="6B7280"/>
            </a:solidFill>
            <a:ln/>
          </p:spPr>
        </p:sp>
        <p:grpSp>
          <p:nvGrpSpPr>
            <p:cNvPr id="59" name="Group 58"/>
            <p:cNvGrpSpPr/>
            <p:nvPr/>
          </p:nvGrpSpPr>
          <p:grpSpPr>
            <a:xfrm>
              <a:off x="6263640" y="3941064"/>
              <a:ext cx="5440680" cy="530352"/>
              <a:chOff x="6263640" y="3401568"/>
              <a:chExt cx="5440680" cy="530352"/>
            </a:xfrm>
          </p:grpSpPr>
          <p:sp>
            <p:nvSpPr>
              <p:cNvPr id="60" name="Shape 28"/>
              <p:cNvSpPr/>
              <p:nvPr/>
            </p:nvSpPr>
            <p:spPr>
              <a:xfrm>
                <a:off x="6263640" y="3401568"/>
                <a:ext cx="5440680" cy="530352"/>
              </a:xfrm>
              <a:prstGeom prst="roundRect">
                <a:avLst>
                  <a:gd name="adj" fmla="val 10345"/>
                </a:avLst>
              </a:prstGeom>
              <a:solidFill>
                <a:srgbClr val="D85A30"/>
              </a:solidFill>
              <a:ln/>
            </p:spPr>
          </p:sp>
          <p:sp>
            <p:nvSpPr>
              <p:cNvPr id="61" name="Text 29"/>
              <p:cNvSpPr txBox="1"/>
              <p:nvPr/>
            </p:nvSpPr>
            <p:spPr>
              <a:xfrm>
                <a:off x="6492240" y="3429000"/>
                <a:ext cx="5029200" cy="2468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3 · Isolated autonomy</a:t>
                </a:r>
                <a:endParaRPr lang="en-US" sz="1200" dirty="0"/>
              </a:p>
            </p:txBody>
          </p:sp>
          <p:sp>
            <p:nvSpPr>
              <p:cNvPr id="62" name="Text 30"/>
              <p:cNvSpPr txBox="1"/>
              <p:nvPr/>
            </p:nvSpPr>
            <p:spPr>
              <a:xfrm>
                <a:off x="6492240" y="3675888"/>
                <a:ext cx="502920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EAF3E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LiDAR/camera only; other robots treated as obstacles</a:t>
                </a:r>
                <a:endParaRPr lang="en-US" sz="950" dirty="0"/>
              </a:p>
            </p:txBody>
          </p:sp>
        </p:grpSp>
        <p:sp>
          <p:nvSpPr>
            <p:cNvPr id="63" name="Shape 31"/>
            <p:cNvSpPr/>
            <p:nvPr/>
          </p:nvSpPr>
          <p:spPr>
            <a:xfrm>
              <a:off x="8887968" y="4471416"/>
              <a:ext cx="237744" cy="128016"/>
            </a:xfrm>
            <a:prstGeom prst="downArrow">
              <a:avLst/>
            </a:prstGeom>
            <a:solidFill>
              <a:srgbClr val="6B7280"/>
            </a:solidFill>
            <a:ln/>
          </p:spPr>
        </p:sp>
        <p:grpSp>
          <p:nvGrpSpPr>
            <p:cNvPr id="64" name="Group 63"/>
            <p:cNvGrpSpPr/>
            <p:nvPr/>
          </p:nvGrpSpPr>
          <p:grpSpPr>
            <a:xfrm>
              <a:off x="6263640" y="4599432"/>
              <a:ext cx="5440680" cy="530352"/>
              <a:chOff x="6263640" y="4059936"/>
              <a:chExt cx="5440680" cy="530352"/>
            </a:xfrm>
          </p:grpSpPr>
          <p:sp>
            <p:nvSpPr>
              <p:cNvPr id="65" name="Shape 32"/>
              <p:cNvSpPr/>
              <p:nvPr/>
            </p:nvSpPr>
            <p:spPr>
              <a:xfrm>
                <a:off x="6263640" y="4059936"/>
                <a:ext cx="5440680" cy="530352"/>
              </a:xfrm>
              <a:prstGeom prst="roundRect">
                <a:avLst>
                  <a:gd name="adj" fmla="val 10345"/>
                </a:avLst>
              </a:prstGeom>
              <a:solidFill>
                <a:srgbClr val="12213B"/>
              </a:solidFill>
              <a:ln/>
            </p:spPr>
          </p:sp>
          <p:sp>
            <p:nvSpPr>
              <p:cNvPr id="66" name="Text 33"/>
              <p:cNvSpPr txBox="1"/>
              <p:nvPr/>
            </p:nvSpPr>
            <p:spPr>
              <a:xfrm>
                <a:off x="6492240" y="4087368"/>
                <a:ext cx="5029200" cy="2468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4 · Safe mode</a:t>
                </a:r>
                <a:endParaRPr lang="en-US" sz="1200" dirty="0"/>
              </a:p>
            </p:txBody>
          </p:sp>
          <p:sp>
            <p:nvSpPr>
              <p:cNvPr id="67" name="Text 34"/>
              <p:cNvSpPr txBox="1"/>
              <p:nvPr/>
            </p:nvSpPr>
            <p:spPr>
              <a:xfrm>
                <a:off x="6492240" y="4334256"/>
                <a:ext cx="502920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EAF3E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Stop / crawl if on-board perception also degrades</a:t>
                </a:r>
                <a:endParaRPr lang="en-US" sz="950" dirty="0"/>
              </a:p>
            </p:txBody>
          </p:sp>
        </p:grpSp>
        <p:sp>
          <p:nvSpPr>
            <p:cNvPr id="68" name="Shape 35"/>
            <p:cNvSpPr/>
            <p:nvPr/>
          </p:nvSpPr>
          <p:spPr>
            <a:xfrm>
              <a:off x="8887968" y="5129784"/>
              <a:ext cx="237744" cy="128016"/>
            </a:xfrm>
            <a:prstGeom prst="downArrow">
              <a:avLst/>
            </a:prstGeom>
            <a:solidFill>
              <a:srgbClr val="6B7280"/>
            </a:solidFill>
            <a:ln/>
          </p:spPr>
        </p:sp>
        <p:grpSp>
          <p:nvGrpSpPr>
            <p:cNvPr id="69" name="Group 68"/>
            <p:cNvGrpSpPr/>
            <p:nvPr/>
          </p:nvGrpSpPr>
          <p:grpSpPr>
            <a:xfrm>
              <a:off x="6263640" y="5257800"/>
              <a:ext cx="5440680" cy="530352"/>
              <a:chOff x="6263640" y="4718304"/>
              <a:chExt cx="5440680" cy="530352"/>
            </a:xfrm>
          </p:grpSpPr>
          <p:sp>
            <p:nvSpPr>
              <p:cNvPr id="70" name="Shape 36"/>
              <p:cNvSpPr/>
              <p:nvPr/>
            </p:nvSpPr>
            <p:spPr>
              <a:xfrm>
                <a:off x="6263640" y="4718304"/>
                <a:ext cx="5440680" cy="530352"/>
              </a:xfrm>
              <a:prstGeom prst="roundRect">
                <a:avLst>
                  <a:gd name="adj" fmla="val 10345"/>
                </a:avLst>
              </a:prstGeom>
              <a:solidFill>
                <a:srgbClr val="E2B93B"/>
              </a:solidFill>
              <a:ln/>
            </p:spPr>
          </p:sp>
          <p:sp>
            <p:nvSpPr>
              <p:cNvPr id="71" name="Text 37"/>
              <p:cNvSpPr txBox="1"/>
              <p:nvPr/>
            </p:nvSpPr>
            <p:spPr>
              <a:xfrm>
                <a:off x="6492240" y="4745736"/>
                <a:ext cx="5029200" cy="2468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5 · Recovery &amp; resync</a:t>
                </a:r>
                <a:endParaRPr lang="en-US" sz="1200" dirty="0"/>
              </a:p>
            </p:txBody>
          </p:sp>
          <p:sp>
            <p:nvSpPr>
              <p:cNvPr id="72" name="Text 38"/>
              <p:cNvSpPr txBox="1"/>
              <p:nvPr/>
            </p:nvSpPr>
            <p:spPr>
              <a:xfrm>
                <a:off x="6492240" y="4992624"/>
                <a:ext cx="502920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3A2E0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Resyncs state, resumes infra mode </a:t>
                </a:r>
                <a:r>
                  <a:rPr lang="en-US" sz="950" dirty="0" smtClean="0">
                    <a:solidFill>
                      <a:srgbClr val="3A2E0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</a:t>
                </a:r>
                <a:r>
                  <a:rPr lang="en-US" sz="950" dirty="0" err="1" smtClean="0">
                    <a:solidFill>
                      <a:srgbClr val="3A2E0A"/>
                    </a:solidFill>
                    <a:ea typeface="Calibri" pitchFamily="34" charset="-122"/>
                    <a:cs typeface="Calibri" pitchFamily="34" charset="-120"/>
                  </a:rPr>
                  <a:t>W</a:t>
                </a:r>
                <a:r>
                  <a:rPr lang="en-US" sz="950" dirty="0" err="1" smtClean="0">
                    <a:solidFill>
                      <a:srgbClr val="3A2E0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iFi</a:t>
                </a:r>
                <a:r>
                  <a:rPr lang="en-US" sz="950" dirty="0" smtClean="0">
                    <a:solidFill>
                      <a:srgbClr val="3A2E0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connection restored)— </a:t>
                </a:r>
                <a:r>
                  <a:rPr lang="en-US" sz="950" dirty="0">
                    <a:solidFill>
                      <a:srgbClr val="3A2E0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loops back to stage 1</a:t>
                </a:r>
                <a:endParaRPr lang="en-US" sz="950" dirty="0"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29773" y="-47625"/>
            <a:ext cx="11700163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xmlns="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39742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Hacker’s Home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456863" y="1353312"/>
            <a:ext cx="9323223" cy="603504"/>
            <a:chOff x="457200" y="1115568"/>
            <a:chExt cx="9323223" cy="603504"/>
          </a:xfrm>
        </p:grpSpPr>
        <p:sp>
          <p:nvSpPr>
            <p:cNvPr id="22" name="Shape 10"/>
            <p:cNvSpPr/>
            <p:nvPr/>
          </p:nvSpPr>
          <p:spPr>
            <a:xfrm>
              <a:off x="1976933" y="1389888"/>
              <a:ext cx="2432304" cy="32918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1D9E75"/>
              </a:solidFill>
              <a:prstDash val="solid"/>
            </a:ln>
          </p:spPr>
        </p:sp>
        <p:sp>
          <p:nvSpPr>
            <p:cNvPr id="23" name="Shape 10"/>
            <p:cNvSpPr/>
            <p:nvPr/>
          </p:nvSpPr>
          <p:spPr>
            <a:xfrm>
              <a:off x="1219528" y="1389888"/>
              <a:ext cx="611102" cy="32918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1D9E75"/>
              </a:solidFill>
              <a:prstDash val="solid"/>
            </a:ln>
          </p:spPr>
        </p:sp>
        <p:sp>
          <p:nvSpPr>
            <p:cNvPr id="24" name="Shape 10"/>
            <p:cNvSpPr/>
            <p:nvPr/>
          </p:nvSpPr>
          <p:spPr>
            <a:xfrm>
              <a:off x="7496861" y="1371600"/>
              <a:ext cx="2283562" cy="32918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1D9E75"/>
              </a:solidFill>
              <a:prstDash val="solid"/>
            </a:ln>
          </p:spPr>
        </p:sp>
        <p:grpSp>
          <p:nvGrpSpPr>
            <p:cNvPr id="9" name="Group 8"/>
            <p:cNvGrpSpPr/>
            <p:nvPr/>
          </p:nvGrpSpPr>
          <p:grpSpPr>
            <a:xfrm>
              <a:off x="457200" y="1115568"/>
              <a:ext cx="9323223" cy="603504"/>
              <a:chOff x="457200" y="1115568"/>
              <a:chExt cx="9323223" cy="603504"/>
            </a:xfrm>
          </p:grpSpPr>
          <p:sp>
            <p:nvSpPr>
              <p:cNvPr id="13" name="Text 3"/>
              <p:cNvSpPr txBox="1"/>
              <p:nvPr/>
            </p:nvSpPr>
            <p:spPr>
              <a:xfrm>
                <a:off x="457200" y="1115568"/>
                <a:ext cx="548640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b="1" kern="0" spc="100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TECHNOLOGY STACK</a:t>
                </a:r>
                <a:endParaRPr lang="en-US" sz="1100" dirty="0"/>
              </a:p>
            </p:txBody>
          </p:sp>
          <p:sp>
            <p:nvSpPr>
              <p:cNvPr id="14" name="Shape 4"/>
              <p:cNvSpPr/>
              <p:nvPr/>
            </p:nvSpPr>
            <p:spPr>
              <a:xfrm>
                <a:off x="457200" y="1389888"/>
                <a:ext cx="649224" cy="329184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2700">
                <a:solidFill>
                  <a:srgbClr val="1D9E75"/>
                </a:solidFill>
                <a:prstDash val="solid"/>
              </a:ln>
            </p:spPr>
          </p:sp>
          <p:sp>
            <p:nvSpPr>
              <p:cNvPr id="15" name="Text 5"/>
              <p:cNvSpPr txBox="1"/>
              <p:nvPr/>
            </p:nvSpPr>
            <p:spPr>
              <a:xfrm>
                <a:off x="457200" y="1389888"/>
                <a:ext cx="649224" cy="3291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ROS 2</a:t>
                </a:r>
                <a:endParaRPr lang="en-US" sz="1050" dirty="0"/>
              </a:p>
            </p:txBody>
          </p:sp>
          <p:sp>
            <p:nvSpPr>
              <p:cNvPr id="16" name="Text 7"/>
              <p:cNvSpPr txBox="1"/>
              <p:nvPr/>
            </p:nvSpPr>
            <p:spPr>
              <a:xfrm>
                <a:off x="1252728" y="1389888"/>
                <a:ext cx="577901" cy="3291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Nav2</a:t>
                </a:r>
                <a:endParaRPr lang="en-US" sz="1050" dirty="0"/>
              </a:p>
            </p:txBody>
          </p:sp>
          <p:sp>
            <p:nvSpPr>
              <p:cNvPr id="17" name="Text 9"/>
              <p:cNvSpPr txBox="1"/>
              <p:nvPr/>
            </p:nvSpPr>
            <p:spPr>
              <a:xfrm>
                <a:off x="1976933" y="1389888"/>
                <a:ext cx="2432304" cy="3291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Eclipse Zenoh (P2P middleware)</a:t>
                </a:r>
                <a:endParaRPr lang="en-US" sz="1050" dirty="0"/>
              </a:p>
            </p:txBody>
          </p:sp>
          <p:sp>
            <p:nvSpPr>
              <p:cNvPr id="18" name="Shape 10"/>
              <p:cNvSpPr/>
              <p:nvPr/>
            </p:nvSpPr>
            <p:spPr>
              <a:xfrm>
                <a:off x="4555541" y="1389888"/>
                <a:ext cx="2788920" cy="329184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2700">
                <a:solidFill>
                  <a:srgbClr val="1D9E75"/>
                </a:solidFill>
                <a:prstDash val="solid"/>
              </a:ln>
            </p:spPr>
          </p:sp>
          <p:sp>
            <p:nvSpPr>
              <p:cNvPr id="19" name="Text 11"/>
              <p:cNvSpPr txBox="1"/>
              <p:nvPr/>
            </p:nvSpPr>
            <p:spPr>
              <a:xfrm>
                <a:off x="4555541" y="1389888"/>
                <a:ext cx="2788920" cy="3291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Wi-Fi Direct / local AP (simulated)</a:t>
                </a:r>
                <a:endParaRPr lang="en-US" sz="1050" dirty="0"/>
              </a:p>
            </p:txBody>
          </p:sp>
          <p:sp>
            <p:nvSpPr>
              <p:cNvPr id="20" name="Text 13"/>
              <p:cNvSpPr txBox="1"/>
              <p:nvPr/>
            </p:nvSpPr>
            <p:spPr>
              <a:xfrm>
                <a:off x="7490765" y="1389888"/>
                <a:ext cx="2289658" cy="3291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Gazebo / Ignition simulation</a:t>
                </a:r>
                <a:endParaRPr lang="en-US" sz="1050" dirty="0"/>
              </a:p>
            </p:txBody>
          </p:sp>
        </p:grpSp>
      </p:grpSp>
      <p:grpSp>
        <p:nvGrpSpPr>
          <p:cNvPr id="26" name="Group 25"/>
          <p:cNvGrpSpPr/>
          <p:nvPr/>
        </p:nvGrpSpPr>
        <p:grpSpPr>
          <a:xfrm>
            <a:off x="7496524" y="2048256"/>
            <a:ext cx="3931920" cy="3218688"/>
            <a:chOff x="7772400" y="1965960"/>
            <a:chExt cx="3931920" cy="3218688"/>
          </a:xfrm>
        </p:grpSpPr>
        <p:sp>
          <p:nvSpPr>
            <p:cNvPr id="27" name="Text 45"/>
            <p:cNvSpPr txBox="1"/>
            <p:nvPr/>
          </p:nvSpPr>
          <p:spPr>
            <a:xfrm>
              <a:off x="7772400" y="1965960"/>
              <a:ext cx="3931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CORE ALGORITHMS</a:t>
              </a:r>
              <a:endParaRPr lang="en-US" sz="1100" dirty="0"/>
            </a:p>
          </p:txBody>
        </p:sp>
        <p:sp>
          <p:nvSpPr>
            <p:cNvPr id="28" name="Text 46"/>
            <p:cNvSpPr txBox="1"/>
            <p:nvPr/>
          </p:nvSpPr>
          <p:spPr>
            <a:xfrm>
              <a:off x="7772400" y="2258568"/>
              <a:ext cx="3931920" cy="2926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7800" indent="-177800">
                <a:lnSpc>
                  <a:spcPct val="115000"/>
                </a:lnSpc>
                <a:spcAft>
                  <a:spcPts val="12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Path planning: A* with event-driven replanning when costmaps change</a:t>
              </a:r>
              <a:endParaRPr lang="en-US" sz="1150" dirty="0"/>
            </a:p>
            <a:p>
              <a:pPr marL="177800" indent="-177800">
                <a:lnSpc>
                  <a:spcPct val="115000"/>
                </a:lnSpc>
                <a:spcAft>
                  <a:spcPts val="12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Conflict resolution: space-time reservation table, deterministic tie-break</a:t>
              </a:r>
              <a:endParaRPr lang="en-US" sz="1150" dirty="0"/>
            </a:p>
            <a:p>
              <a:pPr marL="177800" indent="-177800">
                <a:lnSpc>
                  <a:spcPct val="115000"/>
                </a:lnSpc>
                <a:spcAft>
                  <a:spcPts val="12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Deadlock handling: wait-for-graph detection, priority-based yield</a:t>
              </a:r>
              <a:endParaRPr lang="en-US" sz="1150" dirty="0"/>
            </a:p>
            <a:p>
              <a:pPr marL="177800" indent="-177800">
                <a:lnSpc>
                  <a:spcPct val="115000"/>
                </a:lnSpc>
                <a:spcAft>
                  <a:spcPts val="12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Task allocation: distributed auction (CBBA-inspired), lease-based reassignment</a:t>
              </a:r>
              <a:endParaRPr lang="en-US" sz="1150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244308" y="2066544"/>
            <a:ext cx="3246120" cy="2487168"/>
            <a:chOff x="4343400" y="1965960"/>
            <a:chExt cx="3246120" cy="2487168"/>
          </a:xfrm>
        </p:grpSpPr>
        <p:sp>
          <p:nvSpPr>
            <p:cNvPr id="30" name="Text 31"/>
            <p:cNvSpPr txBox="1"/>
            <p:nvPr/>
          </p:nvSpPr>
          <p:spPr>
            <a:xfrm>
              <a:off x="4343400" y="1965960"/>
              <a:ext cx="3246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SIMULATION &amp; VALIDATION SETUP</a:t>
              </a:r>
              <a:endParaRPr lang="en-US" sz="1100" dirty="0"/>
            </a:p>
          </p:txBody>
        </p:sp>
        <p:grpSp>
          <p:nvGrpSpPr>
            <p:cNvPr id="31" name="Group 67"/>
            <p:cNvGrpSpPr/>
            <p:nvPr/>
          </p:nvGrpSpPr>
          <p:grpSpPr>
            <a:xfrm>
              <a:off x="4343400" y="2240280"/>
              <a:ext cx="3172968" cy="502920"/>
              <a:chOff x="4343400" y="2240280"/>
              <a:chExt cx="3172968" cy="502920"/>
            </a:xfrm>
          </p:grpSpPr>
          <p:grpSp>
            <p:nvGrpSpPr>
              <p:cNvPr id="49" name="Group 63"/>
              <p:cNvGrpSpPr/>
              <p:nvPr/>
            </p:nvGrpSpPr>
            <p:grpSpPr>
              <a:xfrm>
                <a:off x="4343400" y="2258568"/>
                <a:ext cx="384048" cy="384048"/>
                <a:chOff x="4343400" y="2258568"/>
                <a:chExt cx="384048" cy="384048"/>
              </a:xfrm>
            </p:grpSpPr>
            <p:sp>
              <p:nvSpPr>
                <p:cNvPr id="52" name="Shape 32"/>
                <p:cNvSpPr/>
                <p:nvPr/>
              </p:nvSpPr>
              <p:spPr>
                <a:xfrm>
                  <a:off x="4343400" y="2258568"/>
                  <a:ext cx="384048" cy="384048"/>
                </a:xfrm>
                <a:prstGeom prst="ellipse">
                  <a:avLst/>
                </a:prstGeom>
                <a:solidFill>
                  <a:srgbClr val="1D9E75"/>
                </a:solidFill>
                <a:ln/>
              </p:spPr>
            </p:sp>
            <p:pic>
              <p:nvPicPr>
                <p:cNvPr id="53" name="Image 2" descr="/home/claude/harmoni_ppt/icons/route.png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443984" y="2359152"/>
                  <a:ext cx="182880" cy="182880"/>
                </a:xfrm>
                <a:prstGeom prst="rect">
                  <a:avLst/>
                </a:prstGeom>
              </p:spPr>
            </p:pic>
          </p:grpSp>
          <p:sp>
            <p:nvSpPr>
              <p:cNvPr id="50" name="Text 33"/>
              <p:cNvSpPr txBox="1"/>
              <p:nvPr/>
            </p:nvSpPr>
            <p:spPr>
              <a:xfrm>
                <a:off x="4864608" y="2240280"/>
                <a:ext cx="265176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Simulated world</a:t>
                </a:r>
                <a:endParaRPr lang="en-US" sz="1100" dirty="0"/>
              </a:p>
            </p:txBody>
          </p:sp>
          <p:sp>
            <p:nvSpPr>
              <p:cNvPr id="51" name="Text 34"/>
              <p:cNvSpPr txBox="1"/>
              <p:nvPr/>
            </p:nvSpPr>
            <p:spPr>
              <a:xfrm>
                <a:off x="4864608" y="2450592"/>
                <a:ext cx="26517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Gazebo/Ignition warehouse map — aisles, shelves, dynamic obstacles</a:t>
                </a:r>
                <a:endParaRPr lang="en-US" sz="900" dirty="0"/>
              </a:p>
            </p:txBody>
          </p:sp>
        </p:grpSp>
        <p:grpSp>
          <p:nvGrpSpPr>
            <p:cNvPr id="32" name="Group 68"/>
            <p:cNvGrpSpPr/>
            <p:nvPr/>
          </p:nvGrpSpPr>
          <p:grpSpPr>
            <a:xfrm>
              <a:off x="4343400" y="2843784"/>
              <a:ext cx="3172968" cy="502920"/>
              <a:chOff x="4343400" y="2843784"/>
              <a:chExt cx="3172968" cy="502920"/>
            </a:xfrm>
          </p:grpSpPr>
          <p:grpSp>
            <p:nvGrpSpPr>
              <p:cNvPr id="44" name="Group 64"/>
              <p:cNvGrpSpPr/>
              <p:nvPr/>
            </p:nvGrpSpPr>
            <p:grpSpPr>
              <a:xfrm>
                <a:off x="4343400" y="2862072"/>
                <a:ext cx="384048" cy="384048"/>
                <a:chOff x="4343400" y="2862072"/>
                <a:chExt cx="384048" cy="384048"/>
              </a:xfrm>
            </p:grpSpPr>
            <p:sp>
              <p:nvSpPr>
                <p:cNvPr id="47" name="Shape 35"/>
                <p:cNvSpPr/>
                <p:nvPr/>
              </p:nvSpPr>
              <p:spPr>
                <a:xfrm>
                  <a:off x="4343400" y="2862072"/>
                  <a:ext cx="384048" cy="384048"/>
                </a:xfrm>
                <a:prstGeom prst="ellipse">
                  <a:avLst/>
                </a:prstGeom>
                <a:solidFill>
                  <a:srgbClr val="1D9E75"/>
                </a:solidFill>
                <a:ln/>
              </p:spPr>
            </p:sp>
            <p:pic>
              <p:nvPicPr>
                <p:cNvPr id="48" name="Image 3" descr="/home/claude/harmoni_ppt/icons/robot.png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443984" y="2962656"/>
                  <a:ext cx="182880" cy="182880"/>
                </a:xfrm>
                <a:prstGeom prst="rect">
                  <a:avLst/>
                </a:prstGeom>
              </p:spPr>
            </p:pic>
          </p:grpSp>
          <p:sp>
            <p:nvSpPr>
              <p:cNvPr id="45" name="Text 36"/>
              <p:cNvSpPr txBox="1"/>
              <p:nvPr/>
            </p:nvSpPr>
            <p:spPr>
              <a:xfrm>
                <a:off x="4864608" y="2843784"/>
                <a:ext cx="265176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Simulated agents</a:t>
                </a:r>
                <a:endParaRPr lang="en-US" sz="1100" dirty="0"/>
              </a:p>
            </p:txBody>
          </p:sp>
          <p:sp>
            <p:nvSpPr>
              <p:cNvPr id="46" name="Text 37"/>
              <p:cNvSpPr txBox="1"/>
              <p:nvPr/>
            </p:nvSpPr>
            <p:spPr>
              <a:xfrm>
                <a:off x="4864608" y="3054096"/>
                <a:ext cx="26517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 AMR instances, each running the full ROS 2 stack</a:t>
                </a:r>
                <a:endParaRPr lang="en-US" sz="900" dirty="0"/>
              </a:p>
            </p:txBody>
          </p:sp>
        </p:grpSp>
        <p:grpSp>
          <p:nvGrpSpPr>
            <p:cNvPr id="33" name="Group 69"/>
            <p:cNvGrpSpPr/>
            <p:nvPr/>
          </p:nvGrpSpPr>
          <p:grpSpPr>
            <a:xfrm>
              <a:off x="4343400" y="3447288"/>
              <a:ext cx="3172968" cy="502920"/>
              <a:chOff x="4343400" y="3447288"/>
              <a:chExt cx="3172968" cy="502920"/>
            </a:xfrm>
          </p:grpSpPr>
          <p:grpSp>
            <p:nvGrpSpPr>
              <p:cNvPr id="39" name="Group 65"/>
              <p:cNvGrpSpPr/>
              <p:nvPr/>
            </p:nvGrpSpPr>
            <p:grpSpPr>
              <a:xfrm>
                <a:off x="4343400" y="3465576"/>
                <a:ext cx="384048" cy="384048"/>
                <a:chOff x="4343400" y="3465576"/>
                <a:chExt cx="384048" cy="384048"/>
              </a:xfrm>
            </p:grpSpPr>
            <p:sp>
              <p:nvSpPr>
                <p:cNvPr id="42" name="Shape 38"/>
                <p:cNvSpPr/>
                <p:nvPr/>
              </p:nvSpPr>
              <p:spPr>
                <a:xfrm>
                  <a:off x="4343400" y="3465576"/>
                  <a:ext cx="384048" cy="384048"/>
                </a:xfrm>
                <a:prstGeom prst="ellipse">
                  <a:avLst/>
                </a:prstGeom>
                <a:solidFill>
                  <a:srgbClr val="1D9E75"/>
                </a:solidFill>
                <a:ln/>
              </p:spPr>
            </p:sp>
            <p:pic>
              <p:nvPicPr>
                <p:cNvPr id="43" name="Image 4" descr="/home/claude/harmoni_ppt/icons/wifi.png"/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43984" y="3566160"/>
                  <a:ext cx="182880" cy="182880"/>
                </a:xfrm>
                <a:prstGeom prst="rect">
                  <a:avLst/>
                </a:prstGeom>
              </p:spPr>
            </p:pic>
          </p:grpSp>
          <p:sp>
            <p:nvSpPr>
              <p:cNvPr id="40" name="Text 39"/>
              <p:cNvSpPr txBox="1"/>
              <p:nvPr/>
            </p:nvSpPr>
            <p:spPr>
              <a:xfrm>
                <a:off x="4864608" y="3447288"/>
                <a:ext cx="265176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Network emulation</a:t>
                </a:r>
                <a:endParaRPr lang="en-US" sz="1100" dirty="0"/>
              </a:p>
            </p:txBody>
          </p:sp>
          <p:sp>
            <p:nvSpPr>
              <p:cNvPr id="41" name="Text 40"/>
              <p:cNvSpPr txBox="1"/>
              <p:nvPr/>
            </p:nvSpPr>
            <p:spPr>
              <a:xfrm>
                <a:off x="4864608" y="3657600"/>
                <a:ext cx="26517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Software fault injection triggers P2P / isolated-mode transitions</a:t>
                </a:r>
                <a:endParaRPr lang="en-US" sz="900" dirty="0"/>
              </a:p>
            </p:txBody>
          </p:sp>
        </p:grpSp>
        <p:grpSp>
          <p:nvGrpSpPr>
            <p:cNvPr id="34" name="Group 70"/>
            <p:cNvGrpSpPr/>
            <p:nvPr/>
          </p:nvGrpSpPr>
          <p:grpSpPr>
            <a:xfrm>
              <a:off x="4343400" y="4050792"/>
              <a:ext cx="3172968" cy="402336"/>
              <a:chOff x="4343400" y="4050792"/>
              <a:chExt cx="3172968" cy="402336"/>
            </a:xfrm>
          </p:grpSpPr>
          <p:grpSp>
            <p:nvGrpSpPr>
              <p:cNvPr id="35" name="Group 66"/>
              <p:cNvGrpSpPr/>
              <p:nvPr/>
            </p:nvGrpSpPr>
            <p:grpSpPr>
              <a:xfrm>
                <a:off x="4343400" y="4069080"/>
                <a:ext cx="384048" cy="384048"/>
                <a:chOff x="4343400" y="4069080"/>
                <a:chExt cx="384048" cy="384048"/>
              </a:xfrm>
            </p:grpSpPr>
            <p:sp>
              <p:nvSpPr>
                <p:cNvPr id="37" name="Shape 41"/>
                <p:cNvSpPr/>
                <p:nvPr/>
              </p:nvSpPr>
              <p:spPr>
                <a:xfrm>
                  <a:off x="4343400" y="4069080"/>
                  <a:ext cx="384048" cy="384048"/>
                </a:xfrm>
                <a:prstGeom prst="ellipse">
                  <a:avLst/>
                </a:prstGeom>
                <a:solidFill>
                  <a:srgbClr val="1D9E75"/>
                </a:solidFill>
                <a:ln/>
              </p:spPr>
            </p:sp>
            <p:pic>
              <p:nvPicPr>
                <p:cNvPr id="38" name="Image 5" descr="/home/claude/harmoni_ppt/icons/chart.png"/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43984" y="4169664"/>
                  <a:ext cx="182880" cy="182880"/>
                </a:xfrm>
                <a:prstGeom prst="rect">
                  <a:avLst/>
                </a:prstGeom>
              </p:spPr>
            </p:pic>
          </p:grpSp>
          <p:sp>
            <p:nvSpPr>
              <p:cNvPr id="36" name="Text 42"/>
              <p:cNvSpPr txBox="1"/>
              <p:nvPr/>
            </p:nvSpPr>
            <p:spPr>
              <a:xfrm>
                <a:off x="4864608" y="4050792"/>
                <a:ext cx="2651760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Metrics logging</a:t>
                </a:r>
                <a:endParaRPr lang="en-US" sz="1100" dirty="0"/>
              </a:p>
            </p:txBody>
          </p:sp>
        </p:grpSp>
      </p:grpSp>
      <p:sp>
        <p:nvSpPr>
          <p:cNvPr id="55" name="Text 14"/>
          <p:cNvSpPr txBox="1"/>
          <p:nvPr/>
        </p:nvSpPr>
        <p:spPr>
          <a:xfrm>
            <a:off x="365760" y="20665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1100" dirty="0"/>
          </a:p>
        </p:txBody>
      </p:sp>
      <p:grpSp>
        <p:nvGrpSpPr>
          <p:cNvPr id="56" name="Group 58"/>
          <p:cNvGrpSpPr/>
          <p:nvPr/>
        </p:nvGrpSpPr>
        <p:grpSpPr>
          <a:xfrm>
            <a:off x="365760" y="2340864"/>
            <a:ext cx="3657600" cy="566928"/>
            <a:chOff x="457200" y="2240280"/>
            <a:chExt cx="3657600" cy="566928"/>
          </a:xfrm>
        </p:grpSpPr>
        <p:sp>
          <p:nvSpPr>
            <p:cNvPr id="74" name="Shape 15"/>
            <p:cNvSpPr/>
            <p:nvPr/>
          </p:nvSpPr>
          <p:spPr>
            <a:xfrm>
              <a:off x="457200" y="2240280"/>
              <a:ext cx="3657600" cy="566928"/>
            </a:xfrm>
            <a:prstGeom prst="roundRect">
              <a:avLst>
                <a:gd name="adj" fmla="val 1381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12700">
              <a:solidFill>
                <a:schemeClr val="accent2">
                  <a:lumMod val="75000"/>
                </a:schemeClr>
              </a:solidFill>
              <a:prstDash val="solid"/>
            </a:ln>
          </p:spPr>
        </p:sp>
        <p:pic>
          <p:nvPicPr>
            <p:cNvPr id="75" name="Image 1" descr="/home/claude/harmoni_ppt/icons/brain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5216" y="2368296"/>
              <a:ext cx="274320" cy="274320"/>
            </a:xfrm>
            <a:prstGeom prst="rect">
              <a:avLst/>
            </a:prstGeom>
          </p:spPr>
        </p:pic>
        <p:sp>
          <p:nvSpPr>
            <p:cNvPr id="76" name="Text 16"/>
            <p:cNvSpPr txBox="1"/>
            <p:nvPr/>
          </p:nvSpPr>
          <p:spPr>
            <a:xfrm>
              <a:off x="960120" y="2286000"/>
              <a:ext cx="30632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6B4E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Edge </a:t>
              </a:r>
              <a:r>
                <a:rPr lang="en-US" sz="1050" b="1" dirty="0" smtClean="0">
                  <a:solidFill>
                    <a:srgbClr val="6B4E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</a:t>
              </a:r>
              <a:endParaRPr lang="en-US" sz="1050" dirty="0"/>
            </a:p>
          </p:txBody>
        </p:sp>
        <p:sp>
          <p:nvSpPr>
            <p:cNvPr id="77" name="Text 17"/>
            <p:cNvSpPr txBox="1"/>
            <p:nvPr/>
          </p:nvSpPr>
          <p:spPr>
            <a:xfrm>
              <a:off x="960120" y="2496312"/>
              <a:ext cx="3063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6B4E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ETA/congestion prediction feeds route cost</a:t>
              </a:r>
              <a:r>
                <a:rPr lang="en-US" sz="850" dirty="0" smtClean="0">
                  <a:solidFill>
                    <a:srgbClr val="6B4E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850" dirty="0"/>
            </a:p>
          </p:txBody>
        </p:sp>
      </p:grpSp>
      <p:grpSp>
        <p:nvGrpSpPr>
          <p:cNvPr id="58" name="Group 59"/>
          <p:cNvGrpSpPr/>
          <p:nvPr/>
        </p:nvGrpSpPr>
        <p:grpSpPr>
          <a:xfrm>
            <a:off x="365760" y="3072384"/>
            <a:ext cx="3657600" cy="530352"/>
            <a:chOff x="457200" y="2971800"/>
            <a:chExt cx="3657600" cy="530352"/>
          </a:xfrm>
        </p:grpSpPr>
        <p:sp>
          <p:nvSpPr>
            <p:cNvPr id="71" name="Shape 19"/>
            <p:cNvSpPr/>
            <p:nvPr/>
          </p:nvSpPr>
          <p:spPr>
            <a:xfrm>
              <a:off x="457200" y="2971800"/>
              <a:ext cx="3657600" cy="530352"/>
            </a:xfrm>
            <a:prstGeom prst="roundRect">
              <a:avLst>
                <a:gd name="adj" fmla="val 10345"/>
              </a:avLst>
            </a:prstGeom>
            <a:solidFill>
              <a:srgbClr val="1D9E75"/>
            </a:solidFill>
            <a:ln/>
          </p:spPr>
        </p:sp>
        <p:sp>
          <p:nvSpPr>
            <p:cNvPr id="72" name="Text 20"/>
            <p:cNvSpPr txBox="1"/>
            <p:nvPr/>
          </p:nvSpPr>
          <p:spPr>
            <a:xfrm>
              <a:off x="585216" y="2999232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Fleet coordination</a:t>
              </a:r>
              <a:endParaRPr lang="en-US" sz="1150" dirty="0"/>
            </a:p>
          </p:txBody>
        </p:sp>
        <p:sp>
          <p:nvSpPr>
            <p:cNvPr id="73" name="Text 21"/>
            <p:cNvSpPr txBox="1"/>
            <p:nvPr/>
          </p:nvSpPr>
          <p:spPr>
            <a:xfrm>
              <a:off x="585216" y="3236976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F1F1F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Intent, reservations, deadlock detect, auction</a:t>
              </a:r>
              <a:endParaRPr lang="en-US" sz="850" dirty="0"/>
            </a:p>
          </p:txBody>
        </p:sp>
      </p:grpSp>
      <p:grpSp>
        <p:nvGrpSpPr>
          <p:cNvPr id="59" name="Group 60"/>
          <p:cNvGrpSpPr/>
          <p:nvPr/>
        </p:nvGrpSpPr>
        <p:grpSpPr>
          <a:xfrm>
            <a:off x="365760" y="3743565"/>
            <a:ext cx="3657600" cy="530352"/>
            <a:chOff x="457200" y="3557016"/>
            <a:chExt cx="3657600" cy="530352"/>
          </a:xfrm>
        </p:grpSpPr>
        <p:sp>
          <p:nvSpPr>
            <p:cNvPr id="68" name="Shape 22"/>
            <p:cNvSpPr/>
            <p:nvPr/>
          </p:nvSpPr>
          <p:spPr>
            <a:xfrm>
              <a:off x="457200" y="3557016"/>
              <a:ext cx="3657600" cy="530352"/>
            </a:xfrm>
            <a:prstGeom prst="roundRect">
              <a:avLst>
                <a:gd name="adj" fmla="val 10345"/>
              </a:avLst>
            </a:prstGeom>
            <a:solidFill>
              <a:srgbClr val="534AB7"/>
            </a:solidFill>
            <a:ln/>
          </p:spPr>
        </p:sp>
        <p:sp>
          <p:nvSpPr>
            <p:cNvPr id="69" name="Text 23"/>
            <p:cNvSpPr txBox="1"/>
            <p:nvPr/>
          </p:nvSpPr>
          <p:spPr>
            <a:xfrm>
              <a:off x="585216" y="3584448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Local autonomy (Nav2)</a:t>
              </a:r>
              <a:endParaRPr lang="en-US" sz="1150" dirty="0"/>
            </a:p>
          </p:txBody>
        </p:sp>
        <p:sp>
          <p:nvSpPr>
            <p:cNvPr id="70" name="Text 24"/>
            <p:cNvSpPr txBox="1"/>
            <p:nvPr/>
          </p:nvSpPr>
          <p:spPr>
            <a:xfrm>
              <a:off x="585216" y="3822192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F1F1F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Global/local planning + costmaps</a:t>
              </a:r>
              <a:endParaRPr lang="en-US" sz="850" dirty="0"/>
            </a:p>
          </p:txBody>
        </p:sp>
      </p:grpSp>
      <p:grpSp>
        <p:nvGrpSpPr>
          <p:cNvPr id="60" name="Group 61"/>
          <p:cNvGrpSpPr/>
          <p:nvPr/>
        </p:nvGrpSpPr>
        <p:grpSpPr>
          <a:xfrm>
            <a:off x="365760" y="4406931"/>
            <a:ext cx="3657600" cy="530352"/>
            <a:chOff x="457200" y="4142232"/>
            <a:chExt cx="3657600" cy="530352"/>
          </a:xfrm>
        </p:grpSpPr>
        <p:sp>
          <p:nvSpPr>
            <p:cNvPr id="65" name="Shape 25"/>
            <p:cNvSpPr/>
            <p:nvPr/>
          </p:nvSpPr>
          <p:spPr>
            <a:xfrm>
              <a:off x="457200" y="4142232"/>
              <a:ext cx="3657600" cy="530352"/>
            </a:xfrm>
            <a:prstGeom prst="roundRect">
              <a:avLst>
                <a:gd name="adj" fmla="val 10345"/>
              </a:avLst>
            </a:prstGeom>
            <a:solidFill>
              <a:srgbClr val="D85A30"/>
            </a:solidFill>
            <a:ln/>
          </p:spPr>
        </p:sp>
        <p:sp>
          <p:nvSpPr>
            <p:cNvPr id="66" name="Text 26"/>
            <p:cNvSpPr txBox="1"/>
            <p:nvPr/>
          </p:nvSpPr>
          <p:spPr>
            <a:xfrm>
              <a:off x="585216" y="4169664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Perception &amp; safety</a:t>
              </a:r>
              <a:endParaRPr lang="en-US" sz="1150" dirty="0"/>
            </a:p>
          </p:txBody>
        </p:sp>
        <p:sp>
          <p:nvSpPr>
            <p:cNvPr id="67" name="Text 27"/>
            <p:cNvSpPr txBox="1"/>
            <p:nvPr/>
          </p:nvSpPr>
          <p:spPr>
            <a:xfrm>
              <a:off x="585216" y="4407408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F1F1F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Sensor-processing pipeline, collision monitor — overrides above</a:t>
              </a:r>
              <a:endParaRPr lang="en-US" sz="850" dirty="0"/>
            </a:p>
          </p:txBody>
        </p:sp>
      </p:grpSp>
      <p:grpSp>
        <p:nvGrpSpPr>
          <p:cNvPr id="61" name="Group 62"/>
          <p:cNvGrpSpPr/>
          <p:nvPr/>
        </p:nvGrpSpPr>
        <p:grpSpPr>
          <a:xfrm>
            <a:off x="365760" y="5093742"/>
            <a:ext cx="3657600" cy="530352"/>
            <a:chOff x="457200" y="4727448"/>
            <a:chExt cx="3657600" cy="530352"/>
          </a:xfrm>
        </p:grpSpPr>
        <p:sp>
          <p:nvSpPr>
            <p:cNvPr id="62" name="Shape 28"/>
            <p:cNvSpPr/>
            <p:nvPr/>
          </p:nvSpPr>
          <p:spPr>
            <a:xfrm>
              <a:off x="457200" y="4727448"/>
              <a:ext cx="3657600" cy="530352"/>
            </a:xfrm>
            <a:prstGeom prst="roundRect">
              <a:avLst>
                <a:gd name="adj" fmla="val 10345"/>
              </a:avLst>
            </a:prstGeom>
            <a:solidFill>
              <a:srgbClr val="5F5E5A"/>
            </a:solidFill>
            <a:ln/>
          </p:spPr>
        </p:sp>
        <p:sp>
          <p:nvSpPr>
            <p:cNvPr id="63" name="Text 29"/>
            <p:cNvSpPr txBox="1"/>
            <p:nvPr/>
          </p:nvSpPr>
          <p:spPr>
            <a:xfrm>
              <a:off x="585216" y="4754880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Simulated robot interface</a:t>
              </a:r>
              <a:endParaRPr lang="en-US" sz="1150" dirty="0"/>
            </a:p>
          </p:txBody>
        </p:sp>
        <p:sp>
          <p:nvSpPr>
            <p:cNvPr id="64" name="Text 30"/>
            <p:cNvSpPr txBox="1"/>
            <p:nvPr/>
          </p:nvSpPr>
          <p:spPr>
            <a:xfrm>
              <a:off x="585216" y="4992624"/>
              <a:ext cx="340156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F1F1F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Gazebo/Ignition plugins emulating motors, sensors, network</a:t>
              </a:r>
              <a:endParaRPr lang="en-US" sz="850" dirty="0"/>
            </a:p>
          </p:txBody>
        </p:sp>
      </p:grpSp>
      <p:sp>
        <p:nvSpPr>
          <p:cNvPr id="79" name="Shape 18"/>
          <p:cNvSpPr/>
          <p:nvPr/>
        </p:nvSpPr>
        <p:spPr>
          <a:xfrm>
            <a:off x="2157984" y="2907792"/>
            <a:ext cx="201168" cy="118872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80" name="Shape 18"/>
          <p:cNvSpPr/>
          <p:nvPr/>
        </p:nvSpPr>
        <p:spPr>
          <a:xfrm>
            <a:off x="2157984" y="3602736"/>
            <a:ext cx="201168" cy="118872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81" name="Shape 18"/>
          <p:cNvSpPr/>
          <p:nvPr/>
        </p:nvSpPr>
        <p:spPr>
          <a:xfrm>
            <a:off x="2157984" y="4270248"/>
            <a:ext cx="201168" cy="118872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82" name="Shape 18"/>
          <p:cNvSpPr/>
          <p:nvPr/>
        </p:nvSpPr>
        <p:spPr>
          <a:xfrm>
            <a:off x="2157984" y="4937283"/>
            <a:ext cx="201168" cy="118872"/>
          </a:xfrm>
          <a:prstGeom prst="downArrow">
            <a:avLst/>
          </a:prstGeom>
          <a:solidFill>
            <a:srgbClr val="6B7280"/>
          </a:solidFill>
          <a:ln/>
        </p:spPr>
      </p:sp>
      <p:grpSp>
        <p:nvGrpSpPr>
          <p:cNvPr id="83" name="Group 82"/>
          <p:cNvGrpSpPr/>
          <p:nvPr/>
        </p:nvGrpSpPr>
        <p:grpSpPr>
          <a:xfrm>
            <a:off x="4148395" y="4659402"/>
            <a:ext cx="7708392" cy="964692"/>
            <a:chOff x="457200" y="5257800"/>
            <a:chExt cx="11274552" cy="964692"/>
          </a:xfrm>
        </p:grpSpPr>
        <p:sp>
          <p:nvSpPr>
            <p:cNvPr id="84" name="Shape 39"/>
            <p:cNvSpPr/>
            <p:nvPr/>
          </p:nvSpPr>
          <p:spPr>
            <a:xfrm>
              <a:off x="457200" y="5257800"/>
              <a:ext cx="11274552" cy="964692"/>
            </a:xfrm>
            <a:prstGeom prst="roundRect">
              <a:avLst>
                <a:gd name="adj" fmla="val 6316"/>
              </a:avLst>
            </a:prstGeom>
            <a:solidFill>
              <a:srgbClr val="EDEFF3"/>
            </a:solidFill>
            <a:ln/>
          </p:spPr>
        </p:sp>
        <p:sp>
          <p:nvSpPr>
            <p:cNvPr id="85" name="Text 40"/>
            <p:cNvSpPr txBox="1"/>
            <p:nvPr/>
          </p:nvSpPr>
          <p:spPr>
            <a:xfrm>
              <a:off x="640080" y="5330952"/>
              <a:ext cx="10881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50" dirty="0" smtClean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HARMONI </a:t>
              </a:r>
              <a:r>
                <a:rPr lang="en-US" sz="1000" b="1" kern="0" spc="5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COMPONENT</a:t>
              </a:r>
              <a:endParaRPr lang="en-US" sz="1000" dirty="0"/>
            </a:p>
          </p:txBody>
        </p:sp>
        <p:sp>
          <p:nvSpPr>
            <p:cNvPr id="86" name="Text 41"/>
            <p:cNvSpPr txBox="1"/>
            <p:nvPr/>
          </p:nvSpPr>
          <p:spPr>
            <a:xfrm>
              <a:off x="640082" y="5559552"/>
              <a:ext cx="5454927" cy="635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Font typeface="Arial" pitchFamily="34" charset="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Decentralized comms → Zenoh P2P </a:t>
              </a:r>
              <a:r>
                <a:rPr lang="en-US" sz="1000" dirty="0" smtClean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pub/sub</a:t>
              </a:r>
            </a:p>
            <a:p>
              <a:pPr marL="0" indent="0">
                <a:buFont typeface="Arial" pitchFamily="34" charset="0"/>
                <a:buChar char="•"/>
              </a:pPr>
              <a:r>
                <a:rPr lang="en-US" sz="1000" dirty="0" smtClean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Intent </a:t>
              </a: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sharing → periodic intent </a:t>
              </a:r>
              <a:r>
                <a:rPr lang="en-US" sz="1000" dirty="0" smtClean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broadcast </a:t>
              </a:r>
            </a:p>
            <a:p>
              <a:pPr marL="0" indent="0">
                <a:buFont typeface="Arial" pitchFamily="34" charset="0"/>
                <a:buChar char="•"/>
              </a:pPr>
              <a:r>
                <a:rPr lang="en-US" sz="1000" dirty="0" smtClean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Collision </a:t>
              </a: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avoidance → Nav2 + sensor-based safety layer </a:t>
              </a:r>
              <a:endParaRPr lang="en-US" sz="1000" dirty="0" smtClean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0" indent="0">
                <a:buFont typeface="Arial" pitchFamily="34" charset="0"/>
                <a:buChar char="•"/>
              </a:pPr>
              <a:r>
                <a:rPr lang="en-US" sz="1000" dirty="0" smtClean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Deadlock </a:t>
              </a: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resolution → wait-for-graph + priority yield </a:t>
              </a:r>
              <a:endParaRPr lang="en-US" sz="1000" dirty="0" smtClean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</p:txBody>
        </p:sp>
      </p:grpSp>
      <p:sp>
        <p:nvSpPr>
          <p:cNvPr id="87" name="TextBox 86"/>
          <p:cNvSpPr txBox="1"/>
          <p:nvPr/>
        </p:nvSpPr>
        <p:spPr>
          <a:xfrm>
            <a:off x="7496524" y="4909851"/>
            <a:ext cx="43602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Font typeface="Arial" pitchFamily="34" charset="0"/>
              <a:buChar char="•"/>
            </a:pPr>
            <a:r>
              <a:rPr lang="en-US" sz="1000" dirty="0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Dynamic rerouting → event-driven </a:t>
            </a:r>
            <a:r>
              <a:rPr lang="en-US" sz="1000" dirty="0" err="1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costmap</a:t>
            </a:r>
            <a:r>
              <a:rPr lang="en-US" sz="1000" dirty="0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replanning</a:t>
            </a:r>
            <a:r>
              <a:rPr lang="en-US" sz="1000" dirty="0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 </a:t>
            </a:r>
          </a:p>
          <a:p>
            <a:pPr lvl="0">
              <a:buFont typeface="Arial" pitchFamily="34" charset="0"/>
              <a:buChar char="•"/>
            </a:pPr>
            <a:r>
              <a:rPr lang="en-US" sz="1000" dirty="0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Distributed task allocation → decentralized auction </a:t>
            </a:r>
          </a:p>
          <a:p>
            <a:pPr lvl="0">
              <a:buFont typeface="Arial" pitchFamily="34" charset="0"/>
              <a:buChar char="•"/>
            </a:pPr>
            <a:r>
              <a:rPr lang="en-US" sz="1000" dirty="0" smtClean="0">
                <a:solidFill>
                  <a:srgbClr val="1F2937"/>
                </a:solidFill>
                <a:ea typeface="Calibri" pitchFamily="34" charset="-122"/>
                <a:cs typeface="Calibri" pitchFamily="34" charset="-120"/>
              </a:rPr>
              <a:t>Edge-only operation → per-agent compute model, no cloud/server</a:t>
            </a:r>
            <a:endParaRPr lang="en-US" sz="1000" dirty="0" smtClean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xmlns="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776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Hacker’s Home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5493" y="3752205"/>
            <a:ext cx="5486400" cy="1078992"/>
            <a:chOff x="457200" y="1115568"/>
            <a:chExt cx="5486400" cy="1078992"/>
          </a:xfrm>
        </p:grpSpPr>
        <p:sp>
          <p:nvSpPr>
            <p:cNvPr id="13" name="Text 3"/>
            <p:cNvSpPr txBox="1"/>
            <p:nvPr/>
          </p:nvSpPr>
          <p:spPr>
            <a:xfrm>
              <a:off x="457200" y="1115568"/>
              <a:ext cx="5486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WHY THIS IS BUILDABLE</a:t>
              </a:r>
              <a:endParaRPr lang="en-US" sz="1100" dirty="0"/>
            </a:p>
          </p:txBody>
        </p:sp>
        <p:sp>
          <p:nvSpPr>
            <p:cNvPr id="14" name="Text 4"/>
            <p:cNvSpPr txBox="1"/>
            <p:nvPr/>
          </p:nvSpPr>
          <p:spPr>
            <a:xfrm>
              <a:off x="457200" y="1371600"/>
              <a:ext cx="548640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ROS 2, Nav2, and Eclipse Zenoh are mature, actively-maintained open-source components.</a:t>
              </a:r>
              <a:endParaRPr lang="en-US" sz="1150" dirty="0"/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15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software-only deliverable — fully buildable and testable in simulation, no physical hardware required.</a:t>
              </a:r>
              <a:endParaRPr lang="en-US" sz="115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75493" y="1481670"/>
            <a:ext cx="5440680" cy="2084832"/>
            <a:chOff x="6263640" y="1115568"/>
            <a:chExt cx="5440680" cy="2084832"/>
          </a:xfrm>
        </p:grpSpPr>
        <p:sp>
          <p:nvSpPr>
            <p:cNvPr id="16" name="Text 5"/>
            <p:cNvSpPr txBox="1"/>
            <p:nvPr/>
          </p:nvSpPr>
          <p:spPr>
            <a:xfrm>
              <a:off x="6263640" y="1115568"/>
              <a:ext cx="5440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SIMULATION DEMO SCENARIO</a:t>
              </a:r>
              <a:endParaRPr lang="en-US" sz="1100" dirty="0"/>
            </a:p>
          </p:txBody>
        </p:sp>
        <p:sp>
          <p:nvSpPr>
            <p:cNvPr id="17" name="Text 6"/>
            <p:cNvSpPr txBox="1"/>
            <p:nvPr/>
          </p:nvSpPr>
          <p:spPr>
            <a:xfrm>
              <a:off x="6263640" y="1371600"/>
              <a:ext cx="5440680" cy="1828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3+ simulated AMRs in a Gazebo/Ignition warehouse world; baseline run under infra Wi-Fi coordination</a:t>
              </a:r>
              <a:endParaRPr lang="en-US" sz="1000" dirty="0"/>
            </a:p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Induced Wi-Fi drop → observe local P2P takeover</a:t>
              </a:r>
              <a:endParaRPr lang="en-US" sz="1000" dirty="0"/>
            </a:p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Two robots routed into conflict → observe deadlock detection + resolution</a:t>
              </a:r>
              <a:endParaRPr lang="en-US" sz="1000" dirty="0"/>
            </a:p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Aisle blocked mid-route → observe dynamic reroute</a:t>
              </a:r>
              <a:endParaRPr lang="en-US" sz="1000" dirty="0"/>
            </a:p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Simulated robot fault → observe task reassignment</a:t>
              </a:r>
              <a:endParaRPr lang="en-US" sz="1000" dirty="0"/>
            </a:p>
            <a:p>
              <a:pPr marL="177800" indent="-177800">
                <a:lnSpc>
                  <a:spcPct val="115000"/>
                </a:lnSpc>
                <a:spcAft>
                  <a:spcPts val="300"/>
                </a:spcAft>
                <a:buSzPct val="100000"/>
                <a:buChar char="•"/>
              </a:pPr>
              <a:r>
                <a:rPr lang="en-US" sz="1000" dirty="0">
                  <a:solidFill>
                    <a:srgbClr val="1F29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Infra restored → observe reconnect and state resync</a:t>
              </a:r>
              <a:endParaRPr lang="en-US" sz="1000" dirty="0"/>
            </a:p>
          </p:txBody>
        </p:sp>
      </p:grp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096000" y="1737702"/>
          <a:ext cx="5486400" cy="1600200"/>
        </p:xfrm>
        <a:graphic>
          <a:graphicData uri="http://schemas.openxmlformats.org/drawingml/2006/table">
            <a:tbl>
              <a:tblPr/>
              <a:tblGrid>
                <a:gridCol w="3383280"/>
                <a:gridCol w="2103120"/>
              </a:tblGrid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B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Task completion time vs. stop-and-wait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≥20% reduction (target)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Collisions across all trial runs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0 (validation target)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Deadlock resolution latency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To be measured in trials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Reroute trigger after aisle block detected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To be measured in trials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Task reassignment after simulated fault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To be measured in trials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141720" y="4048369"/>
          <a:ext cx="5440680" cy="1861820"/>
        </p:xfrm>
        <a:graphic>
          <a:graphicData uri="http://schemas.openxmlformats.org/drawingml/2006/table">
            <a:tbl>
              <a:tblPr/>
              <a:tblGrid>
                <a:gridCol w="2560320"/>
                <a:gridCol w="2880360"/>
              </a:tblGrid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Mitigation strategy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Simulated network-fault timing may not exactly match real Wi-Fi Direct/mesh radios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Model transitions on published Wi-Fi Direct latency figures; treat as a software assumption, refined once hardware deployment is scoped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Edge AI competing with Nav2 + perception for a constrained compute budget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Keep prediction models lightweight, run at low frequency, strictly outside the control loop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Symmetric conflicts causing livelock at intersections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</a:rPr>
                        <a:t>Deterministic tie-break rule (robot ID + timestamp) guarantees a total order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7"/>
          <p:cNvSpPr txBox="1"/>
          <p:nvPr/>
        </p:nvSpPr>
        <p:spPr>
          <a:xfrm>
            <a:off x="6096000" y="148167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KPIS (PROPOSED TARGETS)</a:t>
            </a:r>
            <a:endParaRPr lang="en-US" sz="1100" dirty="0"/>
          </a:p>
        </p:txBody>
      </p:sp>
      <p:sp>
        <p:nvSpPr>
          <p:cNvPr id="21" name="Text 8"/>
          <p:cNvSpPr txBox="1"/>
          <p:nvPr/>
        </p:nvSpPr>
        <p:spPr>
          <a:xfrm>
            <a:off x="6141720" y="3752205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MITIGATION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xmlns="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AND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xmlns="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36616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Hacker’s Home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57200" y="1536192"/>
            <a:ext cx="5285232" cy="3621024"/>
            <a:chOff x="457200" y="1188720"/>
            <a:chExt cx="5285232" cy="3621024"/>
          </a:xfrm>
        </p:grpSpPr>
        <p:sp>
          <p:nvSpPr>
            <p:cNvPr id="13" name="Text 3"/>
            <p:cNvSpPr txBox="1"/>
            <p:nvPr/>
          </p:nvSpPr>
          <p:spPr>
            <a:xfrm>
              <a:off x="457200" y="1188720"/>
              <a:ext cx="5212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WHO BENEFITS</a:t>
              </a:r>
              <a:endParaRPr lang="en-US" sz="1100" dirty="0"/>
            </a:p>
          </p:txBody>
        </p:sp>
        <p:grpSp>
          <p:nvGrpSpPr>
            <p:cNvPr id="14" name="Group 23"/>
            <p:cNvGrpSpPr/>
            <p:nvPr/>
          </p:nvGrpSpPr>
          <p:grpSpPr>
            <a:xfrm>
              <a:off x="457200" y="1463040"/>
              <a:ext cx="5285232" cy="740664"/>
              <a:chOff x="457200" y="1463040"/>
              <a:chExt cx="5285232" cy="740664"/>
            </a:xfrm>
          </p:grpSpPr>
          <p:sp>
            <p:nvSpPr>
              <p:cNvPr id="27" name="Shape 4"/>
              <p:cNvSpPr/>
              <p:nvPr/>
            </p:nvSpPr>
            <p:spPr>
              <a:xfrm>
                <a:off x="457200" y="1481328"/>
                <a:ext cx="54864" cy="685800"/>
              </a:xfrm>
              <a:prstGeom prst="rect">
                <a:avLst/>
              </a:prstGeom>
              <a:solidFill>
                <a:srgbClr val="0F6E56"/>
              </a:solidFill>
              <a:ln/>
            </p:spPr>
          </p:sp>
          <p:sp>
            <p:nvSpPr>
              <p:cNvPr id="28" name="Text 5"/>
              <p:cNvSpPr txBox="1"/>
              <p:nvPr/>
            </p:nvSpPr>
            <p:spPr>
              <a:xfrm>
                <a:off x="621792" y="1463040"/>
                <a:ext cx="512064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0F6E5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Economic</a:t>
                </a:r>
                <a:endParaRPr lang="en-US" sz="1300" dirty="0"/>
              </a:p>
            </p:txBody>
          </p:sp>
          <p:sp>
            <p:nvSpPr>
              <p:cNvPr id="29" name="Text 6"/>
              <p:cNvSpPr txBox="1"/>
              <p:nvPr/>
            </p:nvSpPr>
            <p:spPr>
              <a:xfrm>
                <a:off x="621792" y="1700784"/>
                <a:ext cx="51206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F293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Higher AMR throughput and lower idle/stop-and-wait time directly reduce per-unit warehouse operating cost.</a:t>
                </a:r>
                <a:endParaRPr lang="en-US" sz="1100" dirty="0"/>
              </a:p>
            </p:txBody>
          </p:sp>
        </p:grpSp>
        <p:grpSp>
          <p:nvGrpSpPr>
            <p:cNvPr id="15" name="Group 24"/>
            <p:cNvGrpSpPr/>
            <p:nvPr/>
          </p:nvGrpSpPr>
          <p:grpSpPr>
            <a:xfrm>
              <a:off x="457200" y="2331720"/>
              <a:ext cx="5285232" cy="740664"/>
              <a:chOff x="457200" y="2331720"/>
              <a:chExt cx="5285232" cy="740664"/>
            </a:xfrm>
          </p:grpSpPr>
          <p:sp>
            <p:nvSpPr>
              <p:cNvPr id="24" name="Shape 7"/>
              <p:cNvSpPr/>
              <p:nvPr/>
            </p:nvSpPr>
            <p:spPr>
              <a:xfrm>
                <a:off x="457200" y="2350008"/>
                <a:ext cx="54864" cy="685800"/>
              </a:xfrm>
              <a:prstGeom prst="rect">
                <a:avLst/>
              </a:prstGeom>
              <a:solidFill>
                <a:srgbClr val="12213B"/>
              </a:solidFill>
              <a:ln/>
            </p:spPr>
          </p:sp>
          <p:sp>
            <p:nvSpPr>
              <p:cNvPr id="25" name="Text 8"/>
              <p:cNvSpPr txBox="1"/>
              <p:nvPr/>
            </p:nvSpPr>
            <p:spPr>
              <a:xfrm>
                <a:off x="621792" y="2331720"/>
                <a:ext cx="512064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1221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Operational resilience</a:t>
                </a:r>
                <a:endParaRPr lang="en-US" sz="1300" dirty="0"/>
              </a:p>
            </p:txBody>
          </p:sp>
          <p:sp>
            <p:nvSpPr>
              <p:cNvPr id="26" name="Text 9"/>
              <p:cNvSpPr txBox="1"/>
              <p:nvPr/>
            </p:nvSpPr>
            <p:spPr>
              <a:xfrm>
                <a:off x="621792" y="2569464"/>
                <a:ext cx="51206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F293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Fleet keeps functioning during Wi-Fi/server outages — relevant to BEL's defense and strategic-logistics warehousing where infrastructure may be contested or unreliable.</a:t>
                </a:r>
                <a:endParaRPr lang="en-US" sz="1100" dirty="0"/>
              </a:p>
            </p:txBody>
          </p:sp>
        </p:grpSp>
        <p:grpSp>
          <p:nvGrpSpPr>
            <p:cNvPr id="16" name="Group 25"/>
            <p:cNvGrpSpPr/>
            <p:nvPr/>
          </p:nvGrpSpPr>
          <p:grpSpPr>
            <a:xfrm>
              <a:off x="457200" y="3200400"/>
              <a:ext cx="5285232" cy="740664"/>
              <a:chOff x="457200" y="3200400"/>
              <a:chExt cx="5285232" cy="740664"/>
            </a:xfrm>
          </p:grpSpPr>
          <p:sp>
            <p:nvSpPr>
              <p:cNvPr id="21" name="Shape 10"/>
              <p:cNvSpPr/>
              <p:nvPr/>
            </p:nvSpPr>
            <p:spPr>
              <a:xfrm>
                <a:off x="457200" y="3218688"/>
                <a:ext cx="54864" cy="685800"/>
              </a:xfrm>
              <a:prstGeom prst="rect">
                <a:avLst/>
              </a:prstGeom>
              <a:solidFill>
                <a:srgbClr val="534AB7"/>
              </a:solidFill>
              <a:ln/>
            </p:spPr>
          </p:sp>
          <p:sp>
            <p:nvSpPr>
              <p:cNvPr id="22" name="Text 11"/>
              <p:cNvSpPr txBox="1"/>
              <p:nvPr/>
            </p:nvSpPr>
            <p:spPr>
              <a:xfrm>
                <a:off x="621792" y="3200400"/>
                <a:ext cx="512064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534AB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Scalability</a:t>
                </a:r>
                <a:endParaRPr lang="en-US" sz="1300" dirty="0"/>
              </a:p>
            </p:txBody>
          </p:sp>
          <p:sp>
            <p:nvSpPr>
              <p:cNvPr id="23" name="Text 12"/>
              <p:cNvSpPr txBox="1"/>
              <p:nvPr/>
            </p:nvSpPr>
            <p:spPr>
              <a:xfrm>
                <a:off x="621792" y="3438144"/>
                <a:ext cx="51206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F293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software-only coordination layer — no added infrastructure or hardware dependency to scale to larger fleets.</a:t>
                </a:r>
                <a:endParaRPr lang="en-US" sz="1100" dirty="0"/>
              </a:p>
            </p:txBody>
          </p:sp>
        </p:grpSp>
        <p:grpSp>
          <p:nvGrpSpPr>
            <p:cNvPr id="17" name="Group 26"/>
            <p:cNvGrpSpPr/>
            <p:nvPr/>
          </p:nvGrpSpPr>
          <p:grpSpPr>
            <a:xfrm>
              <a:off x="457200" y="4069080"/>
              <a:ext cx="5285232" cy="740664"/>
              <a:chOff x="457200" y="4069080"/>
              <a:chExt cx="5285232" cy="740664"/>
            </a:xfrm>
          </p:grpSpPr>
          <p:sp>
            <p:nvSpPr>
              <p:cNvPr id="18" name="Shape 13"/>
              <p:cNvSpPr/>
              <p:nvPr/>
            </p:nvSpPr>
            <p:spPr>
              <a:xfrm>
                <a:off x="457200" y="4087368"/>
                <a:ext cx="54864" cy="685800"/>
              </a:xfrm>
              <a:prstGeom prst="rect">
                <a:avLst/>
              </a:prstGeom>
              <a:solidFill>
                <a:srgbClr val="639922"/>
              </a:solidFill>
              <a:ln/>
            </p:spPr>
          </p:sp>
          <p:sp>
            <p:nvSpPr>
              <p:cNvPr id="19" name="Text 14"/>
              <p:cNvSpPr txBox="1"/>
              <p:nvPr/>
            </p:nvSpPr>
            <p:spPr>
              <a:xfrm>
                <a:off x="621792" y="4069080"/>
                <a:ext cx="512064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6399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Environmental</a:t>
                </a:r>
                <a:endParaRPr lang="en-US" sz="1300" dirty="0"/>
              </a:p>
            </p:txBody>
          </p:sp>
          <p:sp>
            <p:nvSpPr>
              <p:cNvPr id="20" name="Text 15"/>
              <p:cNvSpPr txBox="1"/>
              <p:nvPr/>
            </p:nvSpPr>
            <p:spPr>
              <a:xfrm>
                <a:off x="621792" y="4306824"/>
                <a:ext cx="51206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F293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Optimized routing and reduced idle dwell time lower energy consumption per completed task.</a:t>
                </a:r>
                <a:endParaRPr lang="en-US" sz="1100" dirty="0"/>
              </a:p>
            </p:txBody>
          </p:sp>
        </p:grpSp>
      </p:grpSp>
      <p:grpSp>
        <p:nvGrpSpPr>
          <p:cNvPr id="30" name="Group 29"/>
          <p:cNvGrpSpPr/>
          <p:nvPr/>
        </p:nvGrpSpPr>
        <p:grpSpPr>
          <a:xfrm>
            <a:off x="6400800" y="1513332"/>
            <a:ext cx="5303520" cy="4069080"/>
            <a:chOff x="6400800" y="1188720"/>
            <a:chExt cx="5303520" cy="4069080"/>
          </a:xfrm>
        </p:grpSpPr>
        <p:sp>
          <p:nvSpPr>
            <p:cNvPr id="31" name="Text 16"/>
            <p:cNvSpPr txBox="1"/>
            <p:nvPr/>
          </p:nvSpPr>
          <p:spPr>
            <a:xfrm>
              <a:off x="6400800" y="1188720"/>
              <a:ext cx="53035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TARGET PERFORMANCE VS. BASELINE</a:t>
              </a:r>
              <a:endParaRPr lang="en-US" sz="1100" dirty="0"/>
            </a:p>
          </p:txBody>
        </p:sp>
        <p:sp>
          <p:nvSpPr>
            <p:cNvPr id="32" name="Text 18"/>
            <p:cNvSpPr txBox="1"/>
            <p:nvPr/>
          </p:nvSpPr>
          <p:spPr>
            <a:xfrm>
              <a:off x="6400800" y="1463040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4A3B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PROPOSED TARGET</a:t>
              </a:r>
              <a:endParaRPr lang="en-US" sz="850" dirty="0"/>
            </a:p>
          </p:txBody>
        </p:sp>
        <p:graphicFrame>
          <p:nvGraphicFramePr>
            <p:cNvPr id="33" name="Chart 0"/>
            <p:cNvGraphicFramePr/>
            <p:nvPr/>
          </p:nvGraphicFramePr>
          <p:xfrm>
            <a:off x="6400800" y="1828800"/>
            <a:ext cx="530352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34" name="Text 19"/>
            <p:cNvSpPr txBox="1"/>
            <p:nvPr/>
          </p:nvSpPr>
          <p:spPr>
            <a:xfrm>
              <a:off x="6400800" y="4617720"/>
              <a:ext cx="53035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Proposed target: ≥20% reduction in average task completion time vs. stop-and-wait, at a zero-collision validation target — not yet measured; to be validated entirely through Gazebo/Ignition simulation trials.</a:t>
              </a:r>
              <a:endParaRPr 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xmlns="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xmlns="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234462" y="252246"/>
            <a:ext cx="145366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Hacker’s Home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609599" y="1656271"/>
            <a:ext cx="11420337" cy="2303253"/>
            <a:chOff x="457200" y="1115568"/>
            <a:chExt cx="5486400" cy="1078992"/>
          </a:xfrm>
        </p:grpSpPr>
        <p:sp>
          <p:nvSpPr>
            <p:cNvPr id="15" name="Text 3"/>
            <p:cNvSpPr txBox="1"/>
            <p:nvPr/>
          </p:nvSpPr>
          <p:spPr>
            <a:xfrm>
              <a:off x="457200" y="1115568"/>
              <a:ext cx="5486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kern="0" spc="100" dirty="0" smtClean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Reference and Research work</a:t>
              </a:r>
              <a:endParaRPr lang="en-US" dirty="0"/>
            </a:p>
          </p:txBody>
        </p:sp>
        <p:sp>
          <p:nvSpPr>
            <p:cNvPr id="16" name="Text 4"/>
            <p:cNvSpPr txBox="1"/>
            <p:nvPr/>
          </p:nvSpPr>
          <p:spPr>
            <a:xfrm>
              <a:off x="457200" y="1371600"/>
              <a:ext cx="548640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Gazebo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4"/>
                </a:rPr>
                <a:t>https://gazebosim.org/docs/latest/getstarted/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</a:t>
              </a:r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ROS 2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5"/>
                </a:rPr>
                <a:t>https://docs.ros.org/en/jazzy/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,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6"/>
                </a:rPr>
                <a:t>https://github.com/ros2/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</a:t>
              </a:r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NAV 2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7"/>
                </a:rPr>
                <a:t>https://docs.nav2.org/rolling/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,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8"/>
                </a:rPr>
                <a:t>http://github.com/ros-navigation/navigation2/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 </a:t>
              </a:r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Zenoh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9"/>
                </a:rPr>
                <a:t>https://zenoh.io/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,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10"/>
                </a:rPr>
                <a:t>https://github.com/eclipse-zenoh/zenoh/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</a:t>
              </a:r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Algorithms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11"/>
                </a:rPr>
                <a:t>https://networkx.org/documentation/stable/reference/index.html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,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12"/>
                </a:rPr>
                <a:t>https://github.com/AtsushiSakai/PythonRobotics/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 </a:t>
              </a:r>
            </a:p>
            <a:p>
              <a:pPr marL="177800" indent="-177800">
                <a:lnSpc>
                  <a:spcPct val="11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Edge AI :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13"/>
                </a:rPr>
                <a:t>https://onnxruntime.ai/docs/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, 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  <a:hlinkClick r:id="rId14"/>
                </a:rPr>
                <a:t>https://github.com/microsoft/onnxruntime/</a:t>
              </a:r>
              <a:r>
                <a:rPr lang="en-US" sz="1200" dirty="0" smtClean="0">
                  <a:solidFill>
                    <a:srgbClr val="1F2937"/>
                  </a:solidFill>
                  <a:ea typeface="Calibri" pitchFamily="34" charset="-122"/>
                  <a:cs typeface="Calibri" pitchFamily="34" charset="-120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xmlns="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9201</TotalTime>
  <Words>916</Words>
  <Application>Microsoft Office PowerPoint</Application>
  <PresentationFormat>Custom</PresentationFormat>
  <Paragraphs>147</Paragraphs>
  <Slides>6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 HARMONI Hierarchical Adaptive Resilient Multi-robot Orchestration Network Infrastructure</vt:lpstr>
      <vt:lpstr>TECHNICAL APPROACH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Purvik Prajapati</cp:lastModifiedBy>
  <cp:revision>186</cp:revision>
  <dcterms:created xsi:type="dcterms:W3CDTF">2013-12-12T18:46:50Z</dcterms:created>
  <dcterms:modified xsi:type="dcterms:W3CDTF">2026-09-07T17:53:34Z</dcterms:modified>
</cp:coreProperties>
</file>