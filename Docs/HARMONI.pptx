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xlsx" ContentType="application/vnd.openxmlformats-officedocument.spreadsheetml.sheet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2" autoAdjust="0"/>
    <p:restoredTop sz="94713" autoAdjust="0"/>
  </p:normalViewPr>
  <p:slideViewPr>
    <p:cSldViewPr snapToGrid="0" snapToObjects="1">
      <p:cViewPr varScale="1">
        <p:scale>
          <a:sx n="110" d="100"/>
          <a:sy n="110" d="100"/>
        </p:scale>
        <p:origin x="-558" y="-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Avg. task completion time (relative units)</c:v>
                </c:pt>
              </c:strCache>
            </c:strRef>
          </c:tx>
          <c:spPr>
            <a:solidFill>
              <a:srgbClr val="D85A30"/>
            </a:solidFill>
            <a:effectLst/>
          </c:spPr>
          <c:dPt>
            <c:idx val="1"/>
            <c:spPr>
              <a:solidFill>
                <a:srgbClr val="1D9E75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Sheet1!$A$2:$A$3</c:f>
              <c:strCache>
                <c:ptCount val="2"/>
                <c:pt idx="0">
                  <c:v>Stop-and-wait
coordination</c:v>
                </c:pt>
                <c:pt idx="1">
                  <c:v>HARMONI
(P2P coordinated)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78</c:v>
                </c:pt>
              </c:numCache>
            </c:numRef>
          </c:val>
        </c:ser>
        <c:dLbls>
          <c:showVal val="1"/>
        </c:dLbls>
        <c:axId val="160051968"/>
        <c:axId val="160053504"/>
      </c:barChart>
      <c:catAx>
        <c:axId val="160051968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160053504"/>
        <c:crosses val="autoZero"/>
        <c:auto val="1"/>
        <c:lblAlgn val="ctr"/>
        <c:lblOffset val="100"/>
        <c:noMultiLvlLbl val="1"/>
      </c:catAx>
      <c:valAx>
        <c:axId val="160053504"/>
        <c:scaling>
          <c:orientation val="minMax"/>
        </c:scaling>
        <c:axPos val="l"/>
        <c:majorGridlines>
          <c:spPr>
            <a:ln w="9525" cap="flat">
              <a:solidFill>
                <a:srgbClr val="E2E5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B7280"/>
                    </a:solidFill>
                    <a:latin typeface="Arial"/>
                  </a:rPr>
                  <a:t>Relative completion time</a:t>
                </a:r>
              </a:p>
            </c:rich>
          </c:tx>
          <c:layout/>
        </c:title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1600519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github.com/ros-navigation/navigation2/" TargetMode="External"/><Relationship Id="rId13" Type="http://schemas.openxmlformats.org/officeDocument/2006/relationships/hyperlink" Target="https://onnxruntime.ai/docs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ocs.nav2.org/rolling/" TargetMode="External"/><Relationship Id="rId12" Type="http://schemas.openxmlformats.org/officeDocument/2006/relationships/hyperlink" Target="https://github.com/AtsushiSakai/PythonRobotic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ros2/" TargetMode="External"/><Relationship Id="rId11" Type="http://schemas.openxmlformats.org/officeDocument/2006/relationships/hyperlink" Target="https://networkx.org/documentation/stable/reference/index.html" TargetMode="External"/><Relationship Id="rId5" Type="http://schemas.openxmlformats.org/officeDocument/2006/relationships/hyperlink" Target="https://docs.ros.org/en/jazzy/" TargetMode="External"/><Relationship Id="rId10" Type="http://schemas.openxmlformats.org/officeDocument/2006/relationships/hyperlink" Target="https://github.com/eclipse-zenoh/zenoh/" TargetMode="External"/><Relationship Id="rId4" Type="http://schemas.openxmlformats.org/officeDocument/2006/relationships/hyperlink" Target="https://gazebosim.org/docs/latest/getstarted/" TargetMode="External"/><Relationship Id="rId9" Type="http://schemas.openxmlformats.org/officeDocument/2006/relationships/hyperlink" Target="https://zenoh.io/" TargetMode="External"/><Relationship Id="rId14" Type="http://schemas.openxmlformats.org/officeDocument/2006/relationships/hyperlink" Target="https://github.com/microsoft/onnxruntim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=""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=""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30000"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715881"/>
            <a:ext cx="1169865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SIH26123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Title - 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Theme - Smart Automation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Category - 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ID -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 – Hacker’s Home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02988" y="2915728"/>
            <a:ext cx="7526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Edge-AI Based Distributed Fleet Coordination for Autonomous Mobile Robots (AMRs) in Smart Warehouses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9773" y="-47625"/>
            <a:ext cx="11700163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2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HARMONI</a:t>
            </a:r>
            <a:br>
              <a:rPr lang="en-US" sz="32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1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Hierarchical Adaptive Resilient Multi-robot Orchestration Network Infrastructure</a:t>
            </a:r>
            <a:endParaRPr lang="en-US" sz="1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=""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36963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Hacker’s Home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6427" y="1240920"/>
            <a:ext cx="6343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Proposed </a:t>
            </a:r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dirty="0" smtClean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5" name="Text 4"/>
          <p:cNvSpPr txBox="1"/>
          <p:nvPr/>
        </p:nvSpPr>
        <p:spPr>
          <a:xfrm>
            <a:off x="551912" y="1601108"/>
            <a:ext cx="11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CORE </a:t>
            </a:r>
            <a:r>
              <a:rPr lang="en-US" sz="1250" b="1" kern="0" spc="50" dirty="0" smtClean="0">
                <a:ea typeface="Calibri" pitchFamily="34" charset="-122"/>
                <a:cs typeface="Calibri" pitchFamily="34" charset="-120"/>
              </a:rPr>
              <a:t>UNIQUENESS</a:t>
            </a:r>
            <a:r>
              <a:rPr lang="en-US" sz="1250" b="1" kern="0" spc="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kern="0" spc="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DECENTRALIZED, EDGE-FIRST COORDINATION</a:t>
            </a:r>
            <a:endParaRPr lang="en-US" sz="1250" dirty="0"/>
          </a:p>
        </p:txBody>
      </p:sp>
      <p:sp>
        <p:nvSpPr>
          <p:cNvPr id="26" name="Text 5"/>
          <p:cNvSpPr txBox="1"/>
          <p:nvPr/>
        </p:nvSpPr>
        <p:spPr>
          <a:xfrm>
            <a:off x="578971" y="1857140"/>
            <a:ext cx="110034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Every AMR carries the full coordination + autonomy stack — no central server sits in the control or safety loop, at any operating tier.</a:t>
            </a:r>
            <a:endParaRPr lang="en-US" sz="1100" dirty="0"/>
          </a:p>
        </p:txBody>
      </p:sp>
      <p:sp>
        <p:nvSpPr>
          <p:cNvPr id="28" name="Text 6"/>
          <p:cNvSpPr txBox="1"/>
          <p:nvPr/>
        </p:nvSpPr>
        <p:spPr>
          <a:xfrm>
            <a:off x="713975" y="2367638"/>
            <a:ext cx="4994260" cy="254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COORDINATION MECHANISMS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3" name="Shape 7"/>
          <p:cNvSpPr/>
          <p:nvPr/>
        </p:nvSpPr>
        <p:spPr>
          <a:xfrm>
            <a:off x="681487" y="2667718"/>
            <a:ext cx="5026748" cy="909334"/>
          </a:xfrm>
          <a:prstGeom prst="roundRect">
            <a:avLst>
              <a:gd name="adj" fmla="val 7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46" name="Text 9"/>
          <p:cNvSpPr txBox="1"/>
          <p:nvPr/>
        </p:nvSpPr>
        <p:spPr>
          <a:xfrm>
            <a:off x="1026507" y="2776838"/>
            <a:ext cx="4526280" cy="254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Space-time </a:t>
            </a:r>
            <a:r>
              <a:rPr lang="en-US" sz="1250" b="1" dirty="0" smtClean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250" dirty="0"/>
          </a:p>
        </p:txBody>
      </p:sp>
      <p:sp>
        <p:nvSpPr>
          <p:cNvPr id="47" name="Text 10"/>
          <p:cNvSpPr txBox="1"/>
          <p:nvPr/>
        </p:nvSpPr>
        <p:spPr>
          <a:xfrm>
            <a:off x="1026507" y="2981979"/>
            <a:ext cx="4526280" cy="47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claim shared cells/aisles for specific time windows; conflicts break by a deterministic priority order.</a:t>
            </a:r>
            <a:endParaRPr lang="en-US" sz="1000" dirty="0"/>
          </a:p>
        </p:txBody>
      </p:sp>
      <p:sp>
        <p:nvSpPr>
          <p:cNvPr id="37" name="Shape 11"/>
          <p:cNvSpPr/>
          <p:nvPr/>
        </p:nvSpPr>
        <p:spPr>
          <a:xfrm>
            <a:off x="681487" y="3704359"/>
            <a:ext cx="5026748" cy="909334"/>
          </a:xfrm>
          <a:prstGeom prst="roundRect">
            <a:avLst>
              <a:gd name="adj" fmla="val 7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39" name="Text 13"/>
          <p:cNvSpPr txBox="1"/>
          <p:nvPr/>
        </p:nvSpPr>
        <p:spPr>
          <a:xfrm>
            <a:off x="1026507" y="3795292"/>
            <a:ext cx="4526280" cy="254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detection &amp; resolution</a:t>
            </a:r>
            <a:endParaRPr lang="en-US" sz="1250" dirty="0"/>
          </a:p>
        </p:txBody>
      </p:sp>
      <p:sp>
        <p:nvSpPr>
          <p:cNvPr id="40" name="Text 14"/>
          <p:cNvSpPr txBox="1"/>
          <p:nvPr/>
        </p:nvSpPr>
        <p:spPr>
          <a:xfrm>
            <a:off x="1026507" y="4021061"/>
            <a:ext cx="4526280" cy="47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wait-for-graph flags cyclic waits across robots; the lowest-priority robot yields to break the cycle.</a:t>
            </a:r>
            <a:endParaRPr lang="en-US" sz="1000" dirty="0"/>
          </a:p>
        </p:txBody>
      </p:sp>
      <p:sp>
        <p:nvSpPr>
          <p:cNvPr id="32" name="Shape 15"/>
          <p:cNvSpPr/>
          <p:nvPr/>
        </p:nvSpPr>
        <p:spPr>
          <a:xfrm>
            <a:off x="681487" y="4741000"/>
            <a:ext cx="5026748" cy="909334"/>
          </a:xfrm>
          <a:prstGeom prst="roundRect">
            <a:avLst>
              <a:gd name="adj" fmla="val 7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35" name="Text 17"/>
          <p:cNvSpPr txBox="1"/>
          <p:nvPr/>
        </p:nvSpPr>
        <p:spPr>
          <a:xfrm>
            <a:off x="1026507" y="4831933"/>
            <a:ext cx="4526280" cy="254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task allocation</a:t>
            </a:r>
            <a:endParaRPr lang="en-US" sz="1250" dirty="0"/>
          </a:p>
        </p:txBody>
      </p:sp>
      <p:sp>
        <p:nvSpPr>
          <p:cNvPr id="36" name="Text 18"/>
          <p:cNvSpPr txBox="1"/>
          <p:nvPr/>
        </p:nvSpPr>
        <p:spPr>
          <a:xfrm>
            <a:off x="1026507" y="5086547"/>
            <a:ext cx="4526280" cy="47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bid for tasks via a decentralized auction; tasks are leased and reassigned automatically on timeout or failure.</a:t>
            </a:r>
            <a:endParaRPr lang="en-US" sz="1000" dirty="0"/>
          </a:p>
        </p:txBody>
      </p:sp>
      <p:sp>
        <p:nvSpPr>
          <p:cNvPr id="48" name="Text 19"/>
          <p:cNvSpPr txBox="1"/>
          <p:nvPr/>
        </p:nvSpPr>
        <p:spPr>
          <a:xfrm>
            <a:off x="6263640" y="2367638"/>
            <a:ext cx="5572471" cy="261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LADDER</a:t>
            </a:r>
            <a:endParaRPr lang="en-US" sz="1100" dirty="0"/>
          </a:p>
        </p:txBody>
      </p:sp>
      <p:sp>
        <p:nvSpPr>
          <p:cNvPr id="50" name="Shape 20"/>
          <p:cNvSpPr/>
          <p:nvPr/>
        </p:nvSpPr>
        <p:spPr>
          <a:xfrm>
            <a:off x="6263640" y="2677081"/>
            <a:ext cx="5572471" cy="541325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Text 21"/>
          <p:cNvSpPr txBox="1"/>
          <p:nvPr/>
        </p:nvSpPr>
        <p:spPr>
          <a:xfrm>
            <a:off x="6497777" y="2705081"/>
            <a:ext cx="5151024" cy="251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 · Infrastructure mode</a:t>
            </a:r>
            <a:endParaRPr lang="en-US" sz="1200" dirty="0"/>
          </a:p>
        </p:txBody>
      </p:sp>
      <p:sp>
        <p:nvSpPr>
          <p:cNvPr id="52" name="Text 22"/>
          <p:cNvSpPr txBox="1"/>
          <p:nvPr/>
        </p:nvSpPr>
        <p:spPr>
          <a:xfrm>
            <a:off x="6497777" y="2957077"/>
            <a:ext cx="5151024" cy="223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Wi-Fi + WMS — full fleet visibility</a:t>
            </a:r>
            <a:endParaRPr lang="en-US" sz="950" dirty="0"/>
          </a:p>
        </p:txBody>
      </p:sp>
      <p:sp>
        <p:nvSpPr>
          <p:cNvPr id="53" name="Shape 23"/>
          <p:cNvSpPr/>
          <p:nvPr/>
        </p:nvSpPr>
        <p:spPr>
          <a:xfrm>
            <a:off x="8951538" y="3218406"/>
            <a:ext cx="243503" cy="130665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55" name="Shape 24"/>
          <p:cNvSpPr/>
          <p:nvPr/>
        </p:nvSpPr>
        <p:spPr>
          <a:xfrm>
            <a:off x="6263640" y="3349071"/>
            <a:ext cx="5572471" cy="541325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sp>
        <p:nvSpPr>
          <p:cNvPr id="56" name="Text 25"/>
          <p:cNvSpPr txBox="1"/>
          <p:nvPr/>
        </p:nvSpPr>
        <p:spPr>
          <a:xfrm>
            <a:off x="6497777" y="3377071"/>
            <a:ext cx="5151024" cy="251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 · Local P2P mode</a:t>
            </a:r>
            <a:endParaRPr lang="en-US" sz="1200" dirty="0"/>
          </a:p>
        </p:txBody>
      </p:sp>
      <p:sp>
        <p:nvSpPr>
          <p:cNvPr id="57" name="Text 26"/>
          <p:cNvSpPr txBox="1"/>
          <p:nvPr/>
        </p:nvSpPr>
        <p:spPr>
          <a:xfrm>
            <a:off x="6497777" y="3629067"/>
            <a:ext cx="5151024" cy="223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Zenoh pub/sub over Wi-Fi Direct / local AP</a:t>
            </a:r>
            <a:endParaRPr lang="en-US" sz="950" dirty="0"/>
          </a:p>
        </p:txBody>
      </p:sp>
      <p:sp>
        <p:nvSpPr>
          <p:cNvPr id="58" name="Shape 27"/>
          <p:cNvSpPr/>
          <p:nvPr/>
        </p:nvSpPr>
        <p:spPr>
          <a:xfrm>
            <a:off x="8951538" y="3890396"/>
            <a:ext cx="243503" cy="130665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60" name="Shape 28"/>
          <p:cNvSpPr/>
          <p:nvPr/>
        </p:nvSpPr>
        <p:spPr>
          <a:xfrm>
            <a:off x="6263640" y="4021061"/>
            <a:ext cx="5572471" cy="541325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sp>
        <p:nvSpPr>
          <p:cNvPr id="61" name="Text 29"/>
          <p:cNvSpPr txBox="1"/>
          <p:nvPr/>
        </p:nvSpPr>
        <p:spPr>
          <a:xfrm>
            <a:off x="6497777" y="4049061"/>
            <a:ext cx="5151024" cy="251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 · Isolated autonomy</a:t>
            </a:r>
            <a:endParaRPr lang="en-US" sz="1200" dirty="0"/>
          </a:p>
        </p:txBody>
      </p:sp>
      <p:sp>
        <p:nvSpPr>
          <p:cNvPr id="62" name="Text 30"/>
          <p:cNvSpPr txBox="1"/>
          <p:nvPr/>
        </p:nvSpPr>
        <p:spPr>
          <a:xfrm>
            <a:off x="6497777" y="4301057"/>
            <a:ext cx="5151024" cy="2239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LiDAR/camera only; other robots treated as obstacles</a:t>
            </a:r>
            <a:endParaRPr lang="en-US" sz="950" dirty="0"/>
          </a:p>
        </p:txBody>
      </p:sp>
      <p:sp>
        <p:nvSpPr>
          <p:cNvPr id="63" name="Shape 31"/>
          <p:cNvSpPr/>
          <p:nvPr/>
        </p:nvSpPr>
        <p:spPr>
          <a:xfrm>
            <a:off x="8951538" y="4562386"/>
            <a:ext cx="243503" cy="130665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65" name="Shape 32"/>
          <p:cNvSpPr/>
          <p:nvPr/>
        </p:nvSpPr>
        <p:spPr>
          <a:xfrm>
            <a:off x="6263640" y="4693051"/>
            <a:ext cx="5572471" cy="541325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sp>
        <p:nvSpPr>
          <p:cNvPr id="66" name="Text 33"/>
          <p:cNvSpPr txBox="1"/>
          <p:nvPr/>
        </p:nvSpPr>
        <p:spPr>
          <a:xfrm>
            <a:off x="6497777" y="4721051"/>
            <a:ext cx="5151024" cy="251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 · Safe mode</a:t>
            </a:r>
            <a:endParaRPr lang="en-US" sz="1200" dirty="0"/>
          </a:p>
        </p:txBody>
      </p:sp>
      <p:sp>
        <p:nvSpPr>
          <p:cNvPr id="67" name="Text 34"/>
          <p:cNvSpPr txBox="1"/>
          <p:nvPr/>
        </p:nvSpPr>
        <p:spPr>
          <a:xfrm>
            <a:off x="6497777" y="4973047"/>
            <a:ext cx="5151024" cy="223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Stop / crawl if on-board perception also degrades</a:t>
            </a:r>
            <a:endParaRPr lang="en-US" sz="950" dirty="0"/>
          </a:p>
        </p:txBody>
      </p:sp>
      <p:sp>
        <p:nvSpPr>
          <p:cNvPr id="68" name="Shape 35"/>
          <p:cNvSpPr/>
          <p:nvPr/>
        </p:nvSpPr>
        <p:spPr>
          <a:xfrm>
            <a:off x="8951538" y="5234376"/>
            <a:ext cx="243503" cy="130665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70" name="Shape 36"/>
          <p:cNvSpPr/>
          <p:nvPr/>
        </p:nvSpPr>
        <p:spPr>
          <a:xfrm>
            <a:off x="6263640" y="5365041"/>
            <a:ext cx="5572471" cy="541325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sp>
        <p:nvSpPr>
          <p:cNvPr id="71" name="Text 37"/>
          <p:cNvSpPr txBox="1"/>
          <p:nvPr/>
        </p:nvSpPr>
        <p:spPr>
          <a:xfrm>
            <a:off x="6497777" y="5393041"/>
            <a:ext cx="5151024" cy="251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 · Recovery &amp; resync</a:t>
            </a:r>
            <a:endParaRPr lang="en-US" sz="1200" dirty="0"/>
          </a:p>
        </p:txBody>
      </p:sp>
      <p:sp>
        <p:nvSpPr>
          <p:cNvPr id="72" name="Text 38"/>
          <p:cNvSpPr txBox="1"/>
          <p:nvPr/>
        </p:nvSpPr>
        <p:spPr>
          <a:xfrm>
            <a:off x="6497777" y="5645037"/>
            <a:ext cx="5151024" cy="223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Resyncs state, resumes infra mode </a:t>
            </a:r>
            <a:r>
              <a:rPr lang="en-US" sz="9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50" dirty="0" err="1" smtClean="0">
                <a:ea typeface="Calibri" pitchFamily="34" charset="-122"/>
                <a:cs typeface="Calibri" pitchFamily="34" charset="-120"/>
              </a:rPr>
              <a:t>W</a:t>
            </a:r>
            <a:r>
              <a:rPr lang="en-US" sz="950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iFi</a:t>
            </a:r>
            <a:r>
              <a:rPr lang="en-US" sz="9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connection restored)— </a:t>
            </a: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loops back to stage 1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9773" y="-47625"/>
            <a:ext cx="11700163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=""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3974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Hacker’s Home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2" name="Shape 10"/>
          <p:cNvSpPr/>
          <p:nvPr/>
        </p:nvSpPr>
        <p:spPr>
          <a:xfrm>
            <a:off x="1976596" y="1627632"/>
            <a:ext cx="243230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3" name="Shape 10"/>
          <p:cNvSpPr/>
          <p:nvPr/>
        </p:nvSpPr>
        <p:spPr>
          <a:xfrm>
            <a:off x="1219190" y="1627632"/>
            <a:ext cx="61110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4" name="Shape 10"/>
          <p:cNvSpPr/>
          <p:nvPr/>
        </p:nvSpPr>
        <p:spPr>
          <a:xfrm>
            <a:off x="7490428" y="1625200"/>
            <a:ext cx="228356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" name="Text 3"/>
          <p:cNvSpPr txBox="1"/>
          <p:nvPr/>
        </p:nvSpPr>
        <p:spPr>
          <a:xfrm>
            <a:off x="329773" y="1353312"/>
            <a:ext cx="56134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§"/>
            </a:pPr>
            <a:r>
              <a:rPr lang="en-US" sz="1200" b="1" kern="0" spc="100" dirty="0" smtClean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TECHNOLOGY </a:t>
            </a:r>
            <a:r>
              <a:rPr lang="en-US" sz="1200" b="1" kern="0" spc="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14" name="Shape 4"/>
          <p:cNvSpPr/>
          <p:nvPr/>
        </p:nvSpPr>
        <p:spPr>
          <a:xfrm>
            <a:off x="456863" y="1627632"/>
            <a:ext cx="6492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Text 5"/>
          <p:cNvSpPr txBox="1"/>
          <p:nvPr/>
        </p:nvSpPr>
        <p:spPr>
          <a:xfrm>
            <a:off x="456863" y="1627632"/>
            <a:ext cx="64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</a:t>
            </a:r>
            <a:endParaRPr lang="en-US" sz="105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6" name="Text 7"/>
          <p:cNvSpPr txBox="1"/>
          <p:nvPr/>
        </p:nvSpPr>
        <p:spPr>
          <a:xfrm>
            <a:off x="1252391" y="1627632"/>
            <a:ext cx="5779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</a:t>
            </a:r>
            <a:endParaRPr lang="en-US" sz="105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8" name="Shape 10"/>
          <p:cNvSpPr/>
          <p:nvPr/>
        </p:nvSpPr>
        <p:spPr>
          <a:xfrm>
            <a:off x="4555204" y="1627632"/>
            <a:ext cx="27889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9" name="Text 11"/>
          <p:cNvSpPr txBox="1"/>
          <p:nvPr/>
        </p:nvSpPr>
        <p:spPr>
          <a:xfrm>
            <a:off x="4555204" y="162763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Direct / local AP (simulated)</a:t>
            </a:r>
            <a:endParaRPr lang="en-US" sz="1050" dirty="0"/>
          </a:p>
        </p:txBody>
      </p:sp>
      <p:sp>
        <p:nvSpPr>
          <p:cNvPr id="20" name="Text 13"/>
          <p:cNvSpPr txBox="1"/>
          <p:nvPr/>
        </p:nvSpPr>
        <p:spPr>
          <a:xfrm>
            <a:off x="7496524" y="1627632"/>
            <a:ext cx="22896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/ Ignition simulation</a:t>
            </a:r>
            <a:endParaRPr lang="en-US" sz="1050" dirty="0"/>
          </a:p>
        </p:txBody>
      </p:sp>
      <p:sp>
        <p:nvSpPr>
          <p:cNvPr id="27" name="Text 45"/>
          <p:cNvSpPr txBox="1"/>
          <p:nvPr/>
        </p:nvSpPr>
        <p:spPr>
          <a:xfrm>
            <a:off x="7496524" y="2048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§"/>
            </a:pPr>
            <a:r>
              <a:rPr lang="en-US" sz="1100" b="1" kern="0" spc="100" dirty="0" smtClean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CORE </a:t>
            </a:r>
            <a:r>
              <a:rPr lang="en-US" sz="1100" b="1" kern="0" spc="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100" dirty="0"/>
          </a:p>
        </p:txBody>
      </p:sp>
      <p:sp>
        <p:nvSpPr>
          <p:cNvPr id="28" name="Text 46"/>
          <p:cNvSpPr txBox="1"/>
          <p:nvPr/>
        </p:nvSpPr>
        <p:spPr>
          <a:xfrm>
            <a:off x="7496524" y="2340864"/>
            <a:ext cx="3931920" cy="2318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planning: A* with event-driven replanning when costmaps change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resolution: space-time reservation table, deterministic tie-break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handling: wait-for-graph detection, priority-based yield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allocation: distributed auction (CBBA-inspired), lease-based reassignment</a:t>
            </a:r>
            <a:endParaRPr lang="en-US" sz="1150" dirty="0"/>
          </a:p>
        </p:txBody>
      </p:sp>
      <p:sp>
        <p:nvSpPr>
          <p:cNvPr id="30" name="Text 31"/>
          <p:cNvSpPr txBox="1"/>
          <p:nvPr/>
        </p:nvSpPr>
        <p:spPr>
          <a:xfrm>
            <a:off x="4244308" y="206654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§"/>
            </a:pPr>
            <a:r>
              <a:rPr lang="en-US" sz="1100" b="1" kern="0" spc="100" dirty="0" smtClean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SIMULATION </a:t>
            </a:r>
            <a:r>
              <a:rPr lang="en-US" sz="1100" b="1" kern="0" spc="10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VALIDATION SETUP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0" name="Text 33"/>
          <p:cNvSpPr txBox="1"/>
          <p:nvPr/>
        </p:nvSpPr>
        <p:spPr>
          <a:xfrm>
            <a:off x="4273431" y="2340864"/>
            <a:ext cx="31438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Ø"/>
            </a:pPr>
            <a:r>
              <a:rPr lang="en-US" sz="110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world</a:t>
            </a:r>
            <a:endParaRPr lang="en-US" sz="1100" dirty="0"/>
          </a:p>
        </p:txBody>
      </p:sp>
      <p:sp>
        <p:nvSpPr>
          <p:cNvPr id="51" name="Text 34"/>
          <p:cNvSpPr txBox="1"/>
          <p:nvPr/>
        </p:nvSpPr>
        <p:spPr>
          <a:xfrm>
            <a:off x="4408900" y="2551176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Gazebo/Ignition warehouse map — aisles, shelves, dynamic obstacles</a:t>
            </a:r>
            <a:endParaRPr 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4273430" y="2944368"/>
            <a:ext cx="31438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Ø"/>
            </a:pPr>
            <a:r>
              <a:rPr lang="en-US" sz="110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agents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4408900" y="3154680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AMR instances, each running the full ROS 2 stack</a:t>
            </a:r>
            <a:endParaRPr lang="en-US" sz="900" dirty="0"/>
          </a:p>
        </p:txBody>
      </p:sp>
      <p:sp>
        <p:nvSpPr>
          <p:cNvPr id="40" name="Text 39"/>
          <p:cNvSpPr txBox="1"/>
          <p:nvPr/>
        </p:nvSpPr>
        <p:spPr>
          <a:xfrm>
            <a:off x="4273431" y="3438144"/>
            <a:ext cx="31438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Ø"/>
            </a:pPr>
            <a:r>
              <a:rPr lang="en-US" sz="110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emulation</a:t>
            </a:r>
            <a:endParaRPr lang="en-US" sz="1100" dirty="0"/>
          </a:p>
        </p:txBody>
      </p:sp>
      <p:sp>
        <p:nvSpPr>
          <p:cNvPr id="41" name="Text 40"/>
          <p:cNvSpPr txBox="1"/>
          <p:nvPr/>
        </p:nvSpPr>
        <p:spPr>
          <a:xfrm>
            <a:off x="4408900" y="3618286"/>
            <a:ext cx="3008376" cy="250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fault injection triggers P2P / isolated-mode transitions</a:t>
            </a:r>
            <a:endParaRPr lang="en-US" sz="900" dirty="0"/>
          </a:p>
        </p:txBody>
      </p:sp>
      <p:sp>
        <p:nvSpPr>
          <p:cNvPr id="36" name="Text 42"/>
          <p:cNvSpPr txBox="1"/>
          <p:nvPr/>
        </p:nvSpPr>
        <p:spPr>
          <a:xfrm>
            <a:off x="4244308" y="3941064"/>
            <a:ext cx="31438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Ø"/>
            </a:pPr>
            <a:r>
              <a:rPr lang="en-US" sz="110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logging</a:t>
            </a:r>
            <a:endParaRPr lang="en-US" sz="1100" dirty="0"/>
          </a:p>
        </p:txBody>
      </p:sp>
      <p:sp>
        <p:nvSpPr>
          <p:cNvPr id="55" name="Text 14"/>
          <p:cNvSpPr txBox="1"/>
          <p:nvPr/>
        </p:nvSpPr>
        <p:spPr>
          <a:xfrm>
            <a:off x="365760" y="2066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§"/>
            </a:pPr>
            <a:r>
              <a:rPr lang="en-US" sz="1100" b="1" kern="0" spc="100" dirty="0" smtClean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SOFTWARE </a:t>
            </a:r>
            <a:r>
              <a:rPr lang="en-US" sz="1200" b="1" kern="0" spc="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74" name="Shape 15"/>
          <p:cNvSpPr/>
          <p:nvPr/>
        </p:nvSpPr>
        <p:spPr>
          <a:xfrm>
            <a:off x="365760" y="2340864"/>
            <a:ext cx="3657600" cy="566928"/>
          </a:xfrm>
          <a:prstGeom prst="roundRect">
            <a:avLst>
              <a:gd name="adj" fmla="val 13813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76" name="Text 16"/>
          <p:cNvSpPr txBox="1"/>
          <p:nvPr/>
        </p:nvSpPr>
        <p:spPr>
          <a:xfrm>
            <a:off x="493776" y="245059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r>
              <a:rPr lang="en-US" sz="1150" b="1" dirty="0">
                <a:solidFill>
                  <a:srgbClr val="6B4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</p:txBody>
      </p:sp>
      <p:sp>
        <p:nvSpPr>
          <p:cNvPr id="77" name="Text 17"/>
          <p:cNvSpPr txBox="1"/>
          <p:nvPr/>
        </p:nvSpPr>
        <p:spPr>
          <a:xfrm>
            <a:off x="493776" y="2596896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4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ETA/congestion prediction feeds route cost</a:t>
            </a:r>
            <a:r>
              <a:rPr lang="en-US" sz="850" dirty="0" smtClean="0">
                <a:solidFill>
                  <a:srgbClr val="6B4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</p:txBody>
      </p:sp>
      <p:sp>
        <p:nvSpPr>
          <p:cNvPr id="71" name="Shape 19"/>
          <p:cNvSpPr/>
          <p:nvPr/>
        </p:nvSpPr>
        <p:spPr>
          <a:xfrm>
            <a:off x="365760" y="3072384"/>
            <a:ext cx="3657600" cy="530352"/>
          </a:xfrm>
          <a:prstGeom prst="roundRect">
            <a:avLst>
              <a:gd name="adj" fmla="val 1034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</p:sp>
      <p:sp>
        <p:nvSpPr>
          <p:cNvPr id="72" name="Text 20"/>
          <p:cNvSpPr txBox="1"/>
          <p:nvPr/>
        </p:nvSpPr>
        <p:spPr>
          <a:xfrm>
            <a:off x="493775" y="3154680"/>
            <a:ext cx="3364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Fleet coordination</a:t>
            </a:r>
            <a:endParaRPr lang="en-US" sz="1150" dirty="0"/>
          </a:p>
        </p:txBody>
      </p:sp>
      <p:sp>
        <p:nvSpPr>
          <p:cNvPr id="73" name="Text 21"/>
          <p:cNvSpPr txBox="1"/>
          <p:nvPr/>
        </p:nvSpPr>
        <p:spPr>
          <a:xfrm>
            <a:off x="493776" y="333756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Intent, reservations, deadlock detect, auction</a:t>
            </a:r>
            <a:endParaRPr lang="en-US" sz="850" dirty="0"/>
          </a:p>
        </p:txBody>
      </p:sp>
      <p:sp>
        <p:nvSpPr>
          <p:cNvPr id="68" name="Shape 22"/>
          <p:cNvSpPr/>
          <p:nvPr/>
        </p:nvSpPr>
        <p:spPr>
          <a:xfrm>
            <a:off x="365760" y="3743565"/>
            <a:ext cx="3657600" cy="530352"/>
          </a:xfrm>
          <a:prstGeom prst="roundRect">
            <a:avLst>
              <a:gd name="adj" fmla="val 1034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</p:sp>
      <p:sp>
        <p:nvSpPr>
          <p:cNvPr id="69" name="Text 23"/>
          <p:cNvSpPr txBox="1"/>
          <p:nvPr/>
        </p:nvSpPr>
        <p:spPr>
          <a:xfrm>
            <a:off x="493776" y="3813048"/>
            <a:ext cx="33646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Local autonomy (Nav2)</a:t>
            </a:r>
            <a:endParaRPr lang="en-US" sz="1150" dirty="0"/>
          </a:p>
        </p:txBody>
      </p:sp>
      <p:sp>
        <p:nvSpPr>
          <p:cNvPr id="70" name="Text 24"/>
          <p:cNvSpPr txBox="1"/>
          <p:nvPr/>
        </p:nvSpPr>
        <p:spPr>
          <a:xfrm>
            <a:off x="493776" y="4008741"/>
            <a:ext cx="34015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Global/local planning + costmaps</a:t>
            </a:r>
            <a:endParaRPr lang="en-US" sz="850" dirty="0"/>
          </a:p>
        </p:txBody>
      </p:sp>
      <p:sp>
        <p:nvSpPr>
          <p:cNvPr id="65" name="Shape 25"/>
          <p:cNvSpPr/>
          <p:nvPr/>
        </p:nvSpPr>
        <p:spPr>
          <a:xfrm>
            <a:off x="365760" y="4406931"/>
            <a:ext cx="3657600" cy="530352"/>
          </a:xfrm>
          <a:prstGeom prst="roundRect">
            <a:avLst>
              <a:gd name="adj" fmla="val 1034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</p:sp>
      <p:sp>
        <p:nvSpPr>
          <p:cNvPr id="66" name="Text 26"/>
          <p:cNvSpPr txBox="1"/>
          <p:nvPr/>
        </p:nvSpPr>
        <p:spPr>
          <a:xfrm>
            <a:off x="493776" y="4434363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&amp; safety</a:t>
            </a:r>
            <a:endParaRPr lang="en-US" sz="1150" dirty="0"/>
          </a:p>
        </p:txBody>
      </p:sp>
      <p:sp>
        <p:nvSpPr>
          <p:cNvPr id="67" name="Text 27"/>
          <p:cNvSpPr txBox="1"/>
          <p:nvPr/>
        </p:nvSpPr>
        <p:spPr>
          <a:xfrm>
            <a:off x="493776" y="4672107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Sensor-processing pipeline, collision monitor — overrides above</a:t>
            </a:r>
            <a:endParaRPr lang="en-US" sz="850" dirty="0"/>
          </a:p>
        </p:txBody>
      </p:sp>
      <p:sp>
        <p:nvSpPr>
          <p:cNvPr id="62" name="Shape 28"/>
          <p:cNvSpPr/>
          <p:nvPr/>
        </p:nvSpPr>
        <p:spPr>
          <a:xfrm>
            <a:off x="365760" y="5093742"/>
            <a:ext cx="3657600" cy="530352"/>
          </a:xfrm>
          <a:prstGeom prst="roundRect">
            <a:avLst>
              <a:gd name="adj" fmla="val 1034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</p:sp>
      <p:sp>
        <p:nvSpPr>
          <p:cNvPr id="63" name="Text 29"/>
          <p:cNvSpPr txBox="1"/>
          <p:nvPr/>
        </p:nvSpPr>
        <p:spPr>
          <a:xfrm>
            <a:off x="493776" y="512117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Simulated robot interface</a:t>
            </a:r>
            <a:endParaRPr lang="en-US" sz="1150" dirty="0"/>
          </a:p>
        </p:txBody>
      </p:sp>
      <p:sp>
        <p:nvSpPr>
          <p:cNvPr id="64" name="Text 30"/>
          <p:cNvSpPr txBox="1"/>
          <p:nvPr/>
        </p:nvSpPr>
        <p:spPr>
          <a:xfrm>
            <a:off x="493776" y="535891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Gazebo/Ignition plugins emulating motors, sensors, network</a:t>
            </a:r>
            <a:endParaRPr lang="en-US" sz="850" dirty="0"/>
          </a:p>
        </p:txBody>
      </p:sp>
      <p:sp>
        <p:nvSpPr>
          <p:cNvPr id="79" name="Shape 18"/>
          <p:cNvSpPr/>
          <p:nvPr/>
        </p:nvSpPr>
        <p:spPr>
          <a:xfrm>
            <a:off x="2157984" y="2907792"/>
            <a:ext cx="201168" cy="118872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80" name="Shape 18"/>
          <p:cNvSpPr/>
          <p:nvPr/>
        </p:nvSpPr>
        <p:spPr>
          <a:xfrm>
            <a:off x="2157984" y="3602736"/>
            <a:ext cx="201168" cy="118872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81" name="Shape 18"/>
          <p:cNvSpPr/>
          <p:nvPr/>
        </p:nvSpPr>
        <p:spPr>
          <a:xfrm>
            <a:off x="2157984" y="4270248"/>
            <a:ext cx="201168" cy="118872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82" name="Shape 18"/>
          <p:cNvSpPr/>
          <p:nvPr/>
        </p:nvSpPr>
        <p:spPr>
          <a:xfrm>
            <a:off x="2157984" y="4937283"/>
            <a:ext cx="201168" cy="118872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84" name="Shape 39"/>
          <p:cNvSpPr/>
          <p:nvPr/>
        </p:nvSpPr>
        <p:spPr>
          <a:xfrm>
            <a:off x="4148395" y="4659402"/>
            <a:ext cx="7708392" cy="964692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85" name="Text 40"/>
          <p:cNvSpPr txBox="1"/>
          <p:nvPr/>
        </p:nvSpPr>
        <p:spPr>
          <a:xfrm>
            <a:off x="4273430" y="4732554"/>
            <a:ext cx="74395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 smtClean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 </a:t>
            </a:r>
            <a:r>
              <a:rPr lang="en-US" sz="1000" b="1" kern="0" spc="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86" name="Text 41"/>
          <p:cNvSpPr txBox="1"/>
          <p:nvPr/>
        </p:nvSpPr>
        <p:spPr>
          <a:xfrm>
            <a:off x="4273431" y="4961154"/>
            <a:ext cx="3729524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Font typeface="Arial" pitchFamily="34" charset="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comms → Zenoh P2P </a:t>
            </a:r>
            <a:r>
              <a:rPr lang="en-US" sz="1000" dirty="0" smtClean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</a:t>
            </a:r>
          </a:p>
          <a:p>
            <a:pPr marL="0" indent="0">
              <a:buFont typeface="Arial" pitchFamily="34" charset="0"/>
              <a:buChar char="•"/>
            </a:pPr>
            <a:r>
              <a:rPr lang="en-US" sz="1000" dirty="0" smtClean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→ periodic intent </a:t>
            </a:r>
            <a:r>
              <a:rPr lang="en-US" sz="1000" dirty="0" smtClean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</a:t>
            </a:r>
          </a:p>
          <a:p>
            <a:pPr marL="0" indent="0">
              <a:buFont typeface="Arial" pitchFamily="34" charset="0"/>
              <a:buChar char="•"/>
            </a:pPr>
            <a:r>
              <a:rPr lang="en-US" sz="1000" dirty="0" smtClean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 → Nav2 + sensor-based safety layer </a:t>
            </a:r>
            <a:endParaRPr lang="en-US" sz="1000" dirty="0" smtClean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Font typeface="Arial" pitchFamily="34" charset="0"/>
              <a:buChar char="•"/>
            </a:pPr>
            <a:r>
              <a:rPr lang="en-US" sz="1000" dirty="0" smtClean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→ wait-for-graph + priority yield </a:t>
            </a:r>
            <a:endParaRPr lang="en-US" sz="1000" dirty="0" smtClean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496524" y="4909851"/>
            <a:ext cx="43602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Arial" pitchFamily="34" charset="0"/>
              <a:buChar char="•"/>
            </a:pPr>
            <a:r>
              <a:rPr lang="en-US" sz="1000" dirty="0" smtClean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Dynamic rerouting → event-driven </a:t>
            </a:r>
            <a:r>
              <a:rPr lang="en-US" sz="1000" dirty="0" err="1" smtClean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costmap</a:t>
            </a:r>
            <a:r>
              <a:rPr lang="en-US" sz="1000" dirty="0" smtClean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replanning</a:t>
            </a:r>
            <a:r>
              <a:rPr lang="en-US" sz="1000" dirty="0" smtClean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 </a:t>
            </a:r>
          </a:p>
          <a:p>
            <a:pPr lvl="0">
              <a:buFont typeface="Arial" pitchFamily="34" charset="0"/>
              <a:buChar char="•"/>
            </a:pPr>
            <a:r>
              <a:rPr lang="en-US" sz="1000" dirty="0" smtClean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Distributed task allocation → decentralized auction </a:t>
            </a:r>
          </a:p>
          <a:p>
            <a:pPr lvl="0">
              <a:buFont typeface="Arial" pitchFamily="34" charset="0"/>
              <a:buChar char="•"/>
            </a:pPr>
            <a:r>
              <a:rPr lang="en-US" sz="1000" dirty="0" smtClean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Edge-only operation → per-agent compute model, no cloud/server</a:t>
            </a:r>
            <a:endParaRPr lang="en-US" sz="1000" dirty="0" smtClean="0">
              <a:solidFill>
                <a:prstClr val="black"/>
              </a:solidFill>
            </a:endParaRPr>
          </a:p>
          <a:p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1976596" y="1627632"/>
            <a:ext cx="2432304" cy="32918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Zenoh (P2P middleware)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=""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46776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Hacker’s Home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375493" y="3752205"/>
            <a:ext cx="5486400" cy="1078992"/>
            <a:chOff x="457200" y="1115568"/>
            <a:chExt cx="5486400" cy="1078992"/>
          </a:xfrm>
        </p:grpSpPr>
        <p:sp>
          <p:nvSpPr>
            <p:cNvPr id="13" name="Text 3"/>
            <p:cNvSpPr txBox="1"/>
            <p:nvPr/>
          </p:nvSpPr>
          <p:spPr>
            <a:xfrm>
              <a:off x="457200" y="1115568"/>
              <a:ext cx="5486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100" dirty="0">
                  <a:solidFill>
                    <a:srgbClr val="0F6E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WHY THIS IS BUILDABLE</a:t>
              </a:r>
              <a:endParaRPr lang="en-US" sz="1100" dirty="0"/>
            </a:p>
          </p:txBody>
        </p:sp>
        <p:sp>
          <p:nvSpPr>
            <p:cNvPr id="14" name="Text 4"/>
            <p:cNvSpPr txBox="1"/>
            <p:nvPr/>
          </p:nvSpPr>
          <p:spPr>
            <a:xfrm>
              <a:off x="457200" y="1371600"/>
              <a:ext cx="548640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7800" indent="-177800">
                <a:lnSpc>
                  <a:spcPct val="115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15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ROS 2, Nav2, and Eclipse Zenoh are mature, actively-maintained open-source components.</a:t>
              </a:r>
              <a:endParaRPr lang="en-US" sz="1150" dirty="0"/>
            </a:p>
            <a:p>
              <a:pPr marL="177800" indent="-177800">
                <a:lnSpc>
                  <a:spcPct val="115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15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software-only deliverable — fully buildable and testable in simulation, no physical hardware required.</a:t>
              </a:r>
              <a:endParaRPr lang="en-US" sz="1150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75493" y="1481670"/>
            <a:ext cx="5440680" cy="2084832"/>
            <a:chOff x="6263640" y="1115568"/>
            <a:chExt cx="5440680" cy="2084832"/>
          </a:xfrm>
        </p:grpSpPr>
        <p:sp>
          <p:nvSpPr>
            <p:cNvPr id="16" name="Text 5"/>
            <p:cNvSpPr txBox="1"/>
            <p:nvPr/>
          </p:nvSpPr>
          <p:spPr>
            <a:xfrm>
              <a:off x="6263640" y="1115568"/>
              <a:ext cx="5440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100" dirty="0">
                  <a:solidFill>
                    <a:srgbClr val="0F6E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SIMULATION DEMO SCENARIO</a:t>
              </a:r>
              <a:endParaRPr lang="en-US" sz="1100" dirty="0"/>
            </a:p>
          </p:txBody>
        </p:sp>
        <p:sp>
          <p:nvSpPr>
            <p:cNvPr id="17" name="Text 6"/>
            <p:cNvSpPr txBox="1"/>
            <p:nvPr/>
          </p:nvSpPr>
          <p:spPr>
            <a:xfrm>
              <a:off x="6263640" y="1371600"/>
              <a:ext cx="5440680" cy="1828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7800" indent="-177800">
                <a:lnSpc>
                  <a:spcPct val="1150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00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3+ simulated AMRs in a Gazebo/Ignition warehouse world; baseline run under infra Wi-Fi coordination</a:t>
              </a:r>
              <a:endParaRPr lang="en-US" sz="1000" dirty="0"/>
            </a:p>
            <a:p>
              <a:pPr marL="177800" indent="-177800">
                <a:lnSpc>
                  <a:spcPct val="1150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00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Induced Wi-Fi drop → observe local P2P takeover</a:t>
              </a:r>
              <a:endParaRPr lang="en-US" sz="1000" dirty="0"/>
            </a:p>
            <a:p>
              <a:pPr marL="177800" indent="-177800">
                <a:lnSpc>
                  <a:spcPct val="1150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00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Two robots routed into conflict → observe deadlock detection + resolution</a:t>
              </a:r>
              <a:endParaRPr lang="en-US" sz="1000" dirty="0"/>
            </a:p>
            <a:p>
              <a:pPr marL="177800" indent="-177800">
                <a:lnSpc>
                  <a:spcPct val="1150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00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Aisle blocked mid-route → observe dynamic reroute</a:t>
              </a:r>
              <a:endParaRPr lang="en-US" sz="1000" dirty="0"/>
            </a:p>
            <a:p>
              <a:pPr marL="177800" indent="-177800">
                <a:lnSpc>
                  <a:spcPct val="1150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00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Simulated robot fault → observe task reassignment</a:t>
              </a:r>
              <a:endParaRPr lang="en-US" sz="1000" dirty="0"/>
            </a:p>
            <a:p>
              <a:pPr marL="177800" indent="-177800">
                <a:lnSpc>
                  <a:spcPct val="1150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00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Infra restored → observe reconnect and state resync</a:t>
              </a:r>
              <a:endParaRPr lang="en-US" sz="1000" dirty="0"/>
            </a:p>
          </p:txBody>
        </p:sp>
      </p:grp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6096000" y="1737702"/>
          <a:ext cx="5486400" cy="1600200"/>
        </p:xfrm>
        <a:graphic>
          <a:graphicData uri="http://schemas.openxmlformats.org/drawingml/2006/table">
            <a:tbl>
              <a:tblPr/>
              <a:tblGrid>
                <a:gridCol w="3383280"/>
                <a:gridCol w="2103120"/>
              </a:tblGrid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B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Task completion time vs. stop-and-wait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≥20% reduction (target)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Collisions across all trial runs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0 (validation target)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Deadlock resolution latency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To be measured in trials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Reroute trigger after aisle block detected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To be measured in trials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Task reassignment after simulated fault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To be measured in trials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6141720" y="4048369"/>
          <a:ext cx="5440680" cy="1861820"/>
        </p:xfrm>
        <a:graphic>
          <a:graphicData uri="http://schemas.openxmlformats.org/drawingml/2006/table">
            <a:tbl>
              <a:tblPr/>
              <a:tblGrid>
                <a:gridCol w="2560320"/>
                <a:gridCol w="2880360"/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Mitigation strategy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Simulated network-fault timing may not exactly match real Wi-Fi Direct/mesh radios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Model transitions on published Wi-Fi Direct latency figures; treat as a software assumption, refined once hardware deployment is scoped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Edge AI competing with Nav2 + perception for a constrained compute budget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Keep prediction models lightweight, run at low frequency, strictly outside the control loop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Symmetric conflicts causing livelock at intersections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Deterministic tie-break rule (robot ID + timestamp) guarantees a total order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7"/>
          <p:cNvSpPr txBox="1"/>
          <p:nvPr/>
        </p:nvSpPr>
        <p:spPr>
          <a:xfrm>
            <a:off x="6096000" y="148167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KPIS (PROPOSED TARGETS)</a:t>
            </a:r>
            <a:endParaRPr lang="en-US" sz="1100" dirty="0"/>
          </a:p>
        </p:txBody>
      </p:sp>
      <p:sp>
        <p:nvSpPr>
          <p:cNvPr id="21" name="Text 8"/>
          <p:cNvSpPr txBox="1"/>
          <p:nvPr/>
        </p:nvSpPr>
        <p:spPr>
          <a:xfrm>
            <a:off x="6141720" y="3752205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AND MITIGATION</a:t>
            </a:r>
            <a:endParaRPr lang="en-US" sz="1100" dirty="0"/>
          </a:p>
        </p:txBody>
      </p:sp>
    </p:spTree>
    <p:extLst>
      <p:ext uri="{BB962C8B-B14F-4D97-AF65-F5344CB8AC3E}">
        <p14:creationId xmlns="" xmlns:p14="http://schemas.microsoft.com/office/powerpoint/2010/main" val="375338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AND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=""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36616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Hacker’s Home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 3"/>
          <p:cNvSpPr txBox="1"/>
          <p:nvPr/>
        </p:nvSpPr>
        <p:spPr>
          <a:xfrm>
            <a:off x="457200" y="15361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100" dirty="0"/>
          </a:p>
        </p:txBody>
      </p:sp>
      <p:sp>
        <p:nvSpPr>
          <p:cNvPr id="28" name="Text 5"/>
          <p:cNvSpPr txBox="1"/>
          <p:nvPr/>
        </p:nvSpPr>
        <p:spPr>
          <a:xfrm>
            <a:off x="621792" y="18105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Ø"/>
            </a:pPr>
            <a:r>
              <a:rPr lang="en-US" sz="1300" b="1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Economic</a:t>
            </a:r>
            <a:endParaRPr lang="en-US" sz="13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9" name="Text 6"/>
          <p:cNvSpPr txBox="1"/>
          <p:nvPr/>
        </p:nvSpPr>
        <p:spPr>
          <a:xfrm>
            <a:off x="802256" y="2048256"/>
            <a:ext cx="4940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AMR throughput and lower idle/stop-and-wait time directly reduce per-unit warehouse operating cost.</a:t>
            </a:r>
            <a:endParaRPr lang="en-US" sz="1100" dirty="0"/>
          </a:p>
        </p:txBody>
      </p:sp>
      <p:sp>
        <p:nvSpPr>
          <p:cNvPr id="25" name="Text 8"/>
          <p:cNvSpPr txBox="1"/>
          <p:nvPr/>
        </p:nvSpPr>
        <p:spPr>
          <a:xfrm>
            <a:off x="621792" y="26791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Ø"/>
            </a:pPr>
            <a:r>
              <a:rPr lang="en-US" sz="1300" b="1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Operational </a:t>
            </a:r>
            <a:r>
              <a:rPr lang="en-US" sz="13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3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6" name="Text 9"/>
          <p:cNvSpPr txBox="1"/>
          <p:nvPr/>
        </p:nvSpPr>
        <p:spPr>
          <a:xfrm>
            <a:off x="802256" y="2916936"/>
            <a:ext cx="4940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keeps functioning during Wi-Fi/server outages — relevant to BEL's defense and strategic-logistics warehousing where infrastructure may be contested or unreliable.</a:t>
            </a:r>
            <a:endParaRPr lang="en-US" sz="1100" dirty="0"/>
          </a:p>
        </p:txBody>
      </p:sp>
      <p:sp>
        <p:nvSpPr>
          <p:cNvPr id="22" name="Text 11"/>
          <p:cNvSpPr txBox="1"/>
          <p:nvPr/>
        </p:nvSpPr>
        <p:spPr>
          <a:xfrm>
            <a:off x="621792" y="35478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Ø"/>
            </a:pPr>
            <a:r>
              <a:rPr lang="en-US" sz="1300" b="1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Scalability</a:t>
            </a:r>
            <a:endParaRPr lang="en-US" sz="13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3" name="Text 12"/>
          <p:cNvSpPr txBox="1"/>
          <p:nvPr/>
        </p:nvSpPr>
        <p:spPr>
          <a:xfrm>
            <a:off x="802256" y="3785616"/>
            <a:ext cx="4940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software-only coordination layer — no added infrastructure or hardware dependency to scale to larger fleets.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" y="44165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Ø"/>
            </a:pPr>
            <a:r>
              <a:rPr lang="en-US" sz="1300" b="1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Environmental</a:t>
            </a:r>
            <a:endParaRPr lang="en-US" sz="13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802256" y="4654296"/>
            <a:ext cx="4940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routing and reduced idle dwell time lower energy consumption per completed task.</a:t>
            </a:r>
            <a:endParaRPr lang="en-US" sz="1100" dirty="0"/>
          </a:p>
        </p:txBody>
      </p:sp>
      <p:grpSp>
        <p:nvGrpSpPr>
          <p:cNvPr id="30" name="Group 29"/>
          <p:cNvGrpSpPr/>
          <p:nvPr/>
        </p:nvGrpSpPr>
        <p:grpSpPr>
          <a:xfrm>
            <a:off x="6400800" y="1513332"/>
            <a:ext cx="5303520" cy="4069080"/>
            <a:chOff x="6400800" y="1188720"/>
            <a:chExt cx="5303520" cy="4069080"/>
          </a:xfrm>
        </p:grpSpPr>
        <p:sp>
          <p:nvSpPr>
            <p:cNvPr id="31" name="Text 16"/>
            <p:cNvSpPr txBox="1"/>
            <p:nvPr/>
          </p:nvSpPr>
          <p:spPr>
            <a:xfrm>
              <a:off x="6400800" y="1188720"/>
              <a:ext cx="53035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100" dirty="0">
                  <a:solidFill>
                    <a:srgbClr val="0F6E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TARGET PERFORMANCE VS. BASELINE</a:t>
              </a:r>
              <a:endParaRPr lang="en-US" sz="1100" dirty="0"/>
            </a:p>
          </p:txBody>
        </p:sp>
        <p:sp>
          <p:nvSpPr>
            <p:cNvPr id="32" name="Text 18"/>
            <p:cNvSpPr txBox="1"/>
            <p:nvPr/>
          </p:nvSpPr>
          <p:spPr>
            <a:xfrm>
              <a:off x="6400800" y="1463040"/>
              <a:ext cx="1600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4A3B0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PROPOSED TARGET</a:t>
              </a:r>
              <a:endParaRPr lang="en-US" sz="850" dirty="0"/>
            </a:p>
          </p:txBody>
        </p:sp>
        <p:graphicFrame>
          <p:nvGraphicFramePr>
            <p:cNvPr id="33" name="Chart 0"/>
            <p:cNvGraphicFramePr/>
            <p:nvPr/>
          </p:nvGraphicFramePr>
          <p:xfrm>
            <a:off x="6400800" y="1828800"/>
            <a:ext cx="530352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34" name="Text 19"/>
            <p:cNvSpPr txBox="1"/>
            <p:nvPr/>
          </p:nvSpPr>
          <p:spPr>
            <a:xfrm>
              <a:off x="6400800" y="4617720"/>
              <a:ext cx="53035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Proposed target: ≥20% reduction in average task completion time vs. stop-and-wait, at a zero-collision validation target — not yet measured; to be validated entirely through Gazebo/Ignition simulation trials.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=""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=""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34462" y="252246"/>
            <a:ext cx="145366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Hacker’s Home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609599" y="1656271"/>
            <a:ext cx="11420337" cy="2303253"/>
            <a:chOff x="457200" y="1115568"/>
            <a:chExt cx="5486400" cy="1078992"/>
          </a:xfrm>
        </p:grpSpPr>
        <p:sp>
          <p:nvSpPr>
            <p:cNvPr id="15" name="Text 3"/>
            <p:cNvSpPr txBox="1"/>
            <p:nvPr/>
          </p:nvSpPr>
          <p:spPr>
            <a:xfrm>
              <a:off x="457200" y="1115568"/>
              <a:ext cx="5486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kern="0" spc="100" dirty="0" smtClean="0">
                  <a:solidFill>
                    <a:srgbClr val="0F6E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Reference and Research work</a:t>
              </a:r>
              <a:endParaRPr lang="en-US" dirty="0"/>
            </a:p>
          </p:txBody>
        </p:sp>
        <p:sp>
          <p:nvSpPr>
            <p:cNvPr id="16" name="Text 4"/>
            <p:cNvSpPr txBox="1"/>
            <p:nvPr/>
          </p:nvSpPr>
          <p:spPr>
            <a:xfrm>
              <a:off x="457200" y="1371600"/>
              <a:ext cx="548640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7800" indent="-177800">
                <a:lnSpc>
                  <a:spcPct val="115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Gazebo : 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  <a:hlinkClick r:id="rId4"/>
                </a:rPr>
                <a:t>https://gazebosim.org/docs/latest/getstarted/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</a:t>
              </a:r>
            </a:p>
            <a:p>
              <a:pPr marL="177800" indent="-177800">
                <a:lnSpc>
                  <a:spcPct val="115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ROS 2 : 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  <a:hlinkClick r:id="rId5"/>
                </a:rPr>
                <a:t>https://docs.ros.org/en/jazzy/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, 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  <a:hlinkClick r:id="rId6"/>
                </a:rPr>
                <a:t>https://github.com/ros2/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</a:t>
              </a:r>
            </a:p>
            <a:p>
              <a:pPr marL="177800" indent="-177800">
                <a:lnSpc>
                  <a:spcPct val="115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NAV 2 : 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  <a:hlinkClick r:id="rId7"/>
                </a:rPr>
                <a:t>https://docs.nav2.org/rolling/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, 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  <a:hlinkClick r:id="rId8"/>
                </a:rPr>
                <a:t>http://github.com/ros-navigation/navigation2/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 </a:t>
              </a:r>
            </a:p>
            <a:p>
              <a:pPr marL="177800" indent="-177800">
                <a:lnSpc>
                  <a:spcPct val="115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Zenoh : 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  <a:hlinkClick r:id="rId9"/>
                </a:rPr>
                <a:t>https://zenoh.io/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, 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  <a:hlinkClick r:id="rId10"/>
                </a:rPr>
                <a:t>https://github.com/eclipse-zenoh/zenoh/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</a:t>
              </a:r>
            </a:p>
            <a:p>
              <a:pPr marL="177800" indent="-177800">
                <a:lnSpc>
                  <a:spcPct val="115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Algorithms : 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  <a:hlinkClick r:id="rId11"/>
                </a:rPr>
                <a:t>https://networkx.org/documentation/stable/reference/index.html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, 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  <a:hlinkClick r:id="rId12"/>
                </a:rPr>
                <a:t>https://github.com/AtsushiSakai/PythonRobotics/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 </a:t>
              </a:r>
            </a:p>
            <a:p>
              <a:pPr marL="177800" indent="-177800">
                <a:lnSpc>
                  <a:spcPct val="115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Edge AI : 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  <a:hlinkClick r:id="rId13"/>
                </a:rPr>
                <a:t>https://onnxruntime.ai/docs/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, 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  <a:hlinkClick r:id="rId14"/>
                </a:rPr>
                <a:t>https://github.com/microsoft/onnxruntime/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391678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9322</TotalTime>
  <Words>925</Words>
  <Application>Microsoft Office PowerPoint</Application>
  <PresentationFormat>Custom</PresentationFormat>
  <Paragraphs>147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 HARMONI Hierarchical Adaptive Resilient Multi-robot Orchestration Network Infrastructure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Purvik Prajapati</cp:lastModifiedBy>
  <cp:revision>195</cp:revision>
  <dcterms:created xsi:type="dcterms:W3CDTF">2013-12-12T18:46:50Z</dcterms:created>
  <dcterms:modified xsi:type="dcterms:W3CDTF">2026-09-07T20:50:24Z</dcterms:modified>
</cp:coreProperties>
</file>